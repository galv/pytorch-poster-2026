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219456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3">
          <p15:clr>
            <a:srgbClr val="A4A3A4"/>
          </p15:clr>
        </p15:guide>
        <p15:guide id="2" pos="10370">
          <p15:clr>
            <a:srgbClr val="A4A3A4"/>
          </p15:clr>
        </p15:guide>
      </p15:sldGuideLst>
    </p:ext>
    <p:ext uri="{2D200454-40CA-4A62-9FC3-DE9A4176ACB9}">
      <p15:notesGuideLst>
        <p15:guide id="1" orient="horz" pos="3033">
          <p15:clr>
            <a:srgbClr val="A4A3A4"/>
          </p15:clr>
        </p15:guide>
        <p15:guide id="2" pos="2554">
          <p15:clr>
            <a:srgbClr val="A4A3A4"/>
          </p15:clr>
        </p15:guide>
      </p15:notesGuideLst>
    </p:ext>
    <p:ext uri="GoogleSlidesCustomDataVersion2">
      <go:slidesCustomData xmlns:go="http://customooxmlschemas.google.com/" r:id="rId7" roundtripDataSignature="AMtx7mi7bKGiPeGRMSylRx4qZwARA8lc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3" orient="horz"/>
        <p:guide pos="10370"/>
      </p:guideLst>
    </p:cSldViewPr>
  </p:slideViewPr>
  <p:notesViewPr>
    <p:cSldViewPr snapToGrid="0">
      <p:cViewPr varScale="1">
        <p:scale>
          <a:sx n="100" d="100"/>
          <a:sy n="100" d="100"/>
        </p:scale>
        <p:origin x="0" y="0"/>
      </p:cViewPr>
      <p:guideLst>
        <p:guide pos="3033" orient="horz"/>
        <p:guide pos="2554"/>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nvSpPr>
        <p:spPr>
          <a:xfrm>
            <a:off x="0" y="0"/>
            <a:ext cx="6858000" cy="9144000"/>
          </a:xfrm>
          <a:prstGeom prst="roundRect">
            <a:avLst>
              <a:gd fmla="val 23"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81000"/>
              </a:lnSpc>
              <a:spcBef>
                <a:spcPts val="0"/>
              </a:spcBef>
              <a:spcAft>
                <a:spcPts val="0"/>
              </a:spcAft>
              <a:buClr>
                <a:srgbClr val="000000"/>
              </a:buClr>
              <a:buSzPts val="1800"/>
              <a:buFont typeface="Times New Roman"/>
              <a:buNone/>
            </a:pPr>
            <a:r>
              <a:t/>
            </a:r>
            <a:endParaRPr b="0" i="0" sz="1800" u="none" cap="none" strike="noStrike">
              <a:solidFill>
                <a:schemeClr val="lt1"/>
              </a:solidFill>
              <a:latin typeface="Arial"/>
              <a:ea typeface="Arial"/>
              <a:cs typeface="Arial"/>
              <a:sym typeface="Arial"/>
            </a:endParaRPr>
          </a:p>
        </p:txBody>
      </p:sp>
      <p:sp>
        <p:nvSpPr>
          <p:cNvPr id="4" name="Google Shape;4;n"/>
          <p:cNvSpPr/>
          <p:nvPr/>
        </p:nvSpPr>
        <p:spPr>
          <a:xfrm>
            <a:off x="0" y="0"/>
            <a:ext cx="6858000" cy="9144000"/>
          </a:xfrm>
          <a:prstGeom prst="roundRect">
            <a:avLst>
              <a:gd fmla="val 23"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81000"/>
              </a:lnSpc>
              <a:spcBef>
                <a:spcPts val="0"/>
              </a:spcBef>
              <a:spcAft>
                <a:spcPts val="0"/>
              </a:spcAft>
              <a:buClr>
                <a:srgbClr val="000000"/>
              </a:buClr>
              <a:buSzPts val="1800"/>
              <a:buFont typeface="Times New Roman"/>
              <a:buNone/>
            </a:pPr>
            <a:r>
              <a:t/>
            </a:r>
            <a:endParaRPr b="0" i="0" sz="1800" u="none" cap="none" strike="noStrike">
              <a:solidFill>
                <a:schemeClr val="lt1"/>
              </a:solidFill>
              <a:latin typeface="Arial"/>
              <a:ea typeface="Arial"/>
              <a:cs typeface="Arial"/>
              <a:sym typeface="Arial"/>
            </a:endParaRPr>
          </a:p>
        </p:txBody>
      </p:sp>
      <p:sp>
        <p:nvSpPr>
          <p:cNvPr id="5" name="Google Shape;5;n"/>
          <p:cNvSpPr/>
          <p:nvPr/>
        </p:nvSpPr>
        <p:spPr>
          <a:xfrm>
            <a:off x="0" y="0"/>
            <a:ext cx="6858000" cy="9144000"/>
          </a:xfrm>
          <a:prstGeom prst="roundRect">
            <a:avLst>
              <a:gd fmla="val 23"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81000"/>
              </a:lnSpc>
              <a:spcBef>
                <a:spcPts val="0"/>
              </a:spcBef>
              <a:spcAft>
                <a:spcPts val="0"/>
              </a:spcAft>
              <a:buClr>
                <a:srgbClr val="000000"/>
              </a:buClr>
              <a:buSzPts val="1800"/>
              <a:buFont typeface="Times New Roman"/>
              <a:buNone/>
            </a:pPr>
            <a:r>
              <a:t/>
            </a:r>
            <a:endParaRPr b="0" i="0" sz="1800" u="none" cap="none" strike="noStrike">
              <a:solidFill>
                <a:schemeClr val="lt1"/>
              </a:solidFill>
              <a:latin typeface="Arial"/>
              <a:ea typeface="Arial"/>
              <a:cs typeface="Arial"/>
              <a:sym typeface="Arial"/>
            </a:endParaRPr>
          </a:p>
        </p:txBody>
      </p:sp>
      <p:sp>
        <p:nvSpPr>
          <p:cNvPr id="6" name="Google Shape;6;n"/>
          <p:cNvSpPr/>
          <p:nvPr/>
        </p:nvSpPr>
        <p:spPr>
          <a:xfrm>
            <a:off x="0" y="0"/>
            <a:ext cx="6858000" cy="9144000"/>
          </a:xfrm>
          <a:prstGeom prst="roundRect">
            <a:avLst>
              <a:gd fmla="val 23"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81000"/>
              </a:lnSpc>
              <a:spcBef>
                <a:spcPts val="0"/>
              </a:spcBef>
              <a:spcAft>
                <a:spcPts val="0"/>
              </a:spcAft>
              <a:buClr>
                <a:srgbClr val="000000"/>
              </a:buClr>
              <a:buSzPts val="1800"/>
              <a:buFont typeface="Times New Roman"/>
              <a:buNone/>
            </a:pPr>
            <a:r>
              <a:t/>
            </a:r>
            <a:endParaRPr b="0" i="0" sz="1800" u="none" cap="none" strike="noStrike">
              <a:solidFill>
                <a:schemeClr val="lt1"/>
              </a:solidFill>
              <a:latin typeface="Arial"/>
              <a:ea typeface="Arial"/>
              <a:cs typeface="Arial"/>
              <a:sym typeface="Arial"/>
            </a:endParaRPr>
          </a:p>
        </p:txBody>
      </p:sp>
      <p:sp>
        <p:nvSpPr>
          <p:cNvPr id="7" name="Google Shape;7;n"/>
          <p:cNvSpPr txBox="1"/>
          <p:nvPr>
            <p:ph idx="2" type="hdr"/>
          </p:nvPr>
        </p:nvSpPr>
        <p:spPr>
          <a:xfrm>
            <a:off x="0" y="0"/>
            <a:ext cx="2965450" cy="450850"/>
          </a:xfrm>
          <a:prstGeom prst="rect">
            <a:avLst/>
          </a:prstGeom>
          <a:noFill/>
          <a:ln>
            <a:noFill/>
          </a:ln>
        </p:spPr>
        <p:txBody>
          <a:bodyPr anchorCtr="0" anchor="t" bIns="46800" lIns="90000" spcFirstLastPara="1" rIns="90000" wrap="square" tIns="46800">
            <a:noAutofit/>
          </a:bodyPr>
          <a:lstStyle>
            <a:lvl1pPr lvl="0" marR="0" rtl="0" algn="l">
              <a:lnSpc>
                <a:spcPct val="100000"/>
              </a:lnSpc>
              <a:spcBef>
                <a:spcPts val="0"/>
              </a:spcBef>
              <a:spcAft>
                <a:spcPts val="0"/>
              </a:spcAft>
              <a:buClr>
                <a:srgbClr val="000000"/>
              </a:buClr>
              <a:buSzPts val="1200"/>
              <a:buFont typeface="Times New Roman"/>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8" name="Google Shape;8;n"/>
          <p:cNvSpPr txBox="1"/>
          <p:nvPr>
            <p:ph idx="10" type="dt"/>
          </p:nvPr>
        </p:nvSpPr>
        <p:spPr>
          <a:xfrm>
            <a:off x="3884613" y="0"/>
            <a:ext cx="2965450" cy="450850"/>
          </a:xfrm>
          <a:prstGeom prst="rect">
            <a:avLst/>
          </a:prstGeom>
          <a:noFill/>
          <a:ln>
            <a:noFill/>
          </a:ln>
        </p:spPr>
        <p:txBody>
          <a:bodyPr anchorCtr="0" anchor="t" bIns="46800" lIns="90000" spcFirstLastPara="1" rIns="90000" wrap="square" tIns="46800">
            <a:noAutofit/>
          </a:bodyPr>
          <a:lstStyle>
            <a:lvl1pPr lvl="0" marR="0" rtl="0" algn="r">
              <a:lnSpc>
                <a:spcPct val="100000"/>
              </a:lnSpc>
              <a:spcBef>
                <a:spcPts val="0"/>
              </a:spcBef>
              <a:spcAft>
                <a:spcPts val="0"/>
              </a:spcAft>
              <a:buClr>
                <a:srgbClr val="000000"/>
              </a:buClr>
              <a:buSzPts val="1200"/>
              <a:buFont typeface="Times New Roman"/>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9" name="Google Shape;9;n"/>
          <p:cNvSpPr/>
          <p:nvPr>
            <p:ph idx="3" type="sldImg"/>
          </p:nvPr>
        </p:nvSpPr>
        <p:spPr>
          <a:xfrm>
            <a:off x="859251" y="685800"/>
            <a:ext cx="5133000" cy="3422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n"/>
          <p:cNvSpPr txBox="1"/>
          <p:nvPr>
            <p:ph idx="1" type="body"/>
          </p:nvPr>
        </p:nvSpPr>
        <p:spPr>
          <a:xfrm>
            <a:off x="685800" y="4343400"/>
            <a:ext cx="5480050" cy="4108450"/>
          </a:xfrm>
          <a:prstGeom prst="rect">
            <a:avLst/>
          </a:prstGeom>
          <a:noFill/>
          <a:ln>
            <a:noFill/>
          </a:ln>
        </p:spPr>
        <p:txBody>
          <a:bodyPr anchorCtr="0" anchor="t" bIns="46800" lIns="90000" spcFirstLastPara="1" rIns="90000" wrap="square" tIns="46800">
            <a:noAutofit/>
          </a:bodyPr>
          <a:lstStyle>
            <a:lvl1pPr indent="-228600" lvl="0" marL="457200" marR="0" rtl="0" algn="l">
              <a:lnSpc>
                <a:spcPct val="100000"/>
              </a:lnSpc>
              <a:spcBef>
                <a:spcPts val="1163"/>
              </a:spcBef>
              <a:spcAft>
                <a:spcPts val="0"/>
              </a:spcAft>
              <a:buClr>
                <a:srgbClr val="000000"/>
              </a:buClr>
              <a:buSzPts val="1400"/>
              <a:buFont typeface="Arial"/>
              <a:buNone/>
              <a:defRPr b="0" i="0" sz="3875" u="none" cap="none" strike="noStrike">
                <a:solidFill>
                  <a:srgbClr val="000000"/>
                </a:solidFill>
                <a:latin typeface="Times New Roman"/>
                <a:ea typeface="Times New Roman"/>
                <a:cs typeface="Times New Roman"/>
                <a:sym typeface="Times New Roman"/>
              </a:defRPr>
            </a:lvl1pPr>
            <a:lvl2pPr indent="-228600" lvl="1" marL="914400" marR="0" rtl="0" algn="l">
              <a:lnSpc>
                <a:spcPct val="100000"/>
              </a:lnSpc>
              <a:spcBef>
                <a:spcPts val="1163"/>
              </a:spcBef>
              <a:spcAft>
                <a:spcPts val="0"/>
              </a:spcAft>
              <a:buClr>
                <a:srgbClr val="000000"/>
              </a:buClr>
              <a:buSzPts val="1400"/>
              <a:buFont typeface="Arial"/>
              <a:buNone/>
              <a:defRPr b="0" i="0" sz="3875" u="none" cap="none" strike="noStrike">
                <a:solidFill>
                  <a:srgbClr val="000000"/>
                </a:solidFill>
                <a:latin typeface="Times New Roman"/>
                <a:ea typeface="Times New Roman"/>
                <a:cs typeface="Times New Roman"/>
                <a:sym typeface="Times New Roman"/>
              </a:defRPr>
            </a:lvl2pPr>
            <a:lvl3pPr indent="-228600" lvl="2" marL="1371600" marR="0" rtl="0" algn="l">
              <a:lnSpc>
                <a:spcPct val="100000"/>
              </a:lnSpc>
              <a:spcBef>
                <a:spcPts val="1163"/>
              </a:spcBef>
              <a:spcAft>
                <a:spcPts val="0"/>
              </a:spcAft>
              <a:buClr>
                <a:srgbClr val="000000"/>
              </a:buClr>
              <a:buSzPts val="1400"/>
              <a:buFont typeface="Arial"/>
              <a:buNone/>
              <a:defRPr b="0" i="0" sz="3875" u="none" cap="none" strike="noStrike">
                <a:solidFill>
                  <a:srgbClr val="000000"/>
                </a:solidFill>
                <a:latin typeface="Times New Roman"/>
                <a:ea typeface="Times New Roman"/>
                <a:cs typeface="Times New Roman"/>
                <a:sym typeface="Times New Roman"/>
              </a:defRPr>
            </a:lvl3pPr>
            <a:lvl4pPr indent="-228600" lvl="3" marL="1828800" marR="0" rtl="0" algn="l">
              <a:lnSpc>
                <a:spcPct val="100000"/>
              </a:lnSpc>
              <a:spcBef>
                <a:spcPts val="1163"/>
              </a:spcBef>
              <a:spcAft>
                <a:spcPts val="0"/>
              </a:spcAft>
              <a:buClr>
                <a:srgbClr val="000000"/>
              </a:buClr>
              <a:buSzPts val="1400"/>
              <a:buFont typeface="Arial"/>
              <a:buNone/>
              <a:defRPr b="0" i="0" sz="3875" u="none" cap="none" strike="noStrike">
                <a:solidFill>
                  <a:srgbClr val="000000"/>
                </a:solidFill>
                <a:latin typeface="Times New Roman"/>
                <a:ea typeface="Times New Roman"/>
                <a:cs typeface="Times New Roman"/>
                <a:sym typeface="Times New Roman"/>
              </a:defRPr>
            </a:lvl4pPr>
            <a:lvl5pPr indent="-228600" lvl="4" marL="2286000" marR="0" rtl="0" algn="l">
              <a:lnSpc>
                <a:spcPct val="100000"/>
              </a:lnSpc>
              <a:spcBef>
                <a:spcPts val="1163"/>
              </a:spcBef>
              <a:spcAft>
                <a:spcPts val="0"/>
              </a:spcAft>
              <a:buClr>
                <a:srgbClr val="000000"/>
              </a:buClr>
              <a:buSzPts val="1400"/>
              <a:buFont typeface="Arial"/>
              <a:buNone/>
              <a:defRPr b="0" i="0" sz="3875" u="none" cap="none" strike="noStrike">
                <a:solidFill>
                  <a:srgbClr val="000000"/>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3875"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3875"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3875"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3875" u="none" cap="none" strike="noStrike">
                <a:solidFill>
                  <a:schemeClr val="dk1"/>
                </a:solidFill>
                <a:latin typeface="Calibri"/>
                <a:ea typeface="Calibri"/>
                <a:cs typeface="Calibri"/>
                <a:sym typeface="Calibri"/>
              </a:defRPr>
            </a:lvl9pPr>
          </a:lstStyle>
          <a:p/>
        </p:txBody>
      </p:sp>
      <p:sp>
        <p:nvSpPr>
          <p:cNvPr id="11" name="Google Shape;11;n"/>
          <p:cNvSpPr txBox="1"/>
          <p:nvPr>
            <p:ph idx="11" type="ftr"/>
          </p:nvPr>
        </p:nvSpPr>
        <p:spPr>
          <a:xfrm>
            <a:off x="0" y="8685213"/>
            <a:ext cx="2965450" cy="450850"/>
          </a:xfrm>
          <a:prstGeom prst="rect">
            <a:avLst/>
          </a:prstGeom>
          <a:noFill/>
          <a:ln>
            <a:noFill/>
          </a:ln>
        </p:spPr>
        <p:txBody>
          <a:bodyPr anchorCtr="0" anchor="b" bIns="46800" lIns="90000" spcFirstLastPara="1" rIns="90000" wrap="square" tIns="46800">
            <a:noAutofit/>
          </a:bodyPr>
          <a:lstStyle>
            <a:lvl1pPr lvl="0" marR="0" rtl="0" algn="l">
              <a:lnSpc>
                <a:spcPct val="100000"/>
              </a:lnSpc>
              <a:spcBef>
                <a:spcPts val="0"/>
              </a:spcBef>
              <a:spcAft>
                <a:spcPts val="0"/>
              </a:spcAft>
              <a:buClr>
                <a:srgbClr val="000000"/>
              </a:buClr>
              <a:buSzPts val="1200"/>
              <a:buFont typeface="Times New Roman"/>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12" name="Google Shape;12;n"/>
          <p:cNvSpPr txBox="1"/>
          <p:nvPr>
            <p:ph idx="12" type="sldNum"/>
          </p:nvPr>
        </p:nvSpPr>
        <p:spPr>
          <a:xfrm>
            <a:off x="3884613" y="8685213"/>
            <a:ext cx="2965450" cy="45085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GB"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685800" y="4343400"/>
            <a:ext cx="5480050" cy="4108450"/>
          </a:xfrm>
          <a:prstGeom prst="rect">
            <a:avLst/>
          </a:prstGeom>
        </p:spPr>
        <p:txBody>
          <a:bodyPr anchorCtr="0" anchor="t" bIns="46800" lIns="90000" spcFirstLastPara="1" rIns="90000" wrap="square" tIns="46800">
            <a:noAutofit/>
          </a:bodyPr>
          <a:lstStyle/>
          <a:p>
            <a:pPr indent="0" lvl="0" marL="0" rtl="0" algn="l">
              <a:spcBef>
                <a:spcPts val="1163"/>
              </a:spcBef>
              <a:spcAft>
                <a:spcPts val="0"/>
              </a:spcAft>
              <a:buNone/>
            </a:pPr>
            <a:r>
              <a:t/>
            </a:r>
            <a:endParaRPr/>
          </a:p>
        </p:txBody>
      </p:sp>
      <p:sp>
        <p:nvSpPr>
          <p:cNvPr id="23" name="Google Shape;23;p1:notes"/>
          <p:cNvSpPr/>
          <p:nvPr>
            <p:ph idx="2" type="sldImg"/>
          </p:nvPr>
        </p:nvSpPr>
        <p:spPr>
          <a:xfrm>
            <a:off x="859251" y="685800"/>
            <a:ext cx="5133000" cy="34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
        <p:nvSpPr>
          <p:cNvPr id="20" name="Google Shape;20;p4"/>
          <p:cNvSpPr txBox="1"/>
          <p:nvPr>
            <p:ph type="title"/>
          </p:nvPr>
        </p:nvSpPr>
        <p:spPr>
          <a:xfrm>
            <a:off x="6485809" y="0"/>
            <a:ext cx="20855700" cy="3149700"/>
          </a:xfrm>
          <a:prstGeom prst="rect">
            <a:avLst/>
          </a:prstGeom>
          <a:noFill/>
          <a:ln>
            <a:noFill/>
          </a:ln>
        </p:spPr>
        <p:txBody>
          <a:bodyPr anchorCtr="0" anchor="ctr" bIns="53275" lIns="102450" spcFirstLastPara="1" rIns="102450" wrap="square" tIns="53275">
            <a:noAutofit/>
          </a:bodyPr>
          <a:lstStyle>
            <a:lvl1pPr lvl="0" marR="0" algn="l">
              <a:lnSpc>
                <a:spcPct val="81000"/>
              </a:lnSpc>
              <a:spcBef>
                <a:spcPts val="0"/>
              </a:spcBef>
              <a:spcAft>
                <a:spcPts val="0"/>
              </a:spcAft>
              <a:buClr>
                <a:srgbClr val="000000"/>
              </a:buClr>
              <a:buSzPts val="1594"/>
              <a:buFont typeface="Arial"/>
              <a:buNone/>
              <a:defRPr b="0" i="0" sz="6830" u="none" cap="none" strike="noStrike">
                <a:solidFill>
                  <a:schemeClr val="lt1"/>
                </a:solidFill>
                <a:latin typeface="Arial"/>
                <a:ea typeface="Arial"/>
                <a:cs typeface="Arial"/>
                <a:sym typeface="Arial"/>
              </a:defRPr>
            </a:lvl1pPr>
            <a:lvl2pPr lvl="1"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2pPr>
            <a:lvl3pPr lvl="2"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3pPr>
            <a:lvl4pPr lvl="3"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4pPr>
            <a:lvl5pPr lvl="4"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5pPr>
            <a:lvl6pPr lvl="5"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6pPr>
            <a:lvl7pPr lvl="6"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7pPr>
            <a:lvl8pPr lvl="7"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8pPr>
            <a:lvl9pPr lvl="8" marR="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6912">
          <p15:clr>
            <a:srgbClr val="FBAE40"/>
          </p15:clr>
        </p15:guide>
        <p15:guide id="2" pos="10367">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 name="Shape 13"/>
        <p:cNvGrpSpPr/>
        <p:nvPr/>
      </p:nvGrpSpPr>
      <p:grpSpPr>
        <a:xfrm>
          <a:off x="0" y="0"/>
          <a:ext cx="0" cy="0"/>
          <a:chOff x="0" y="0"/>
          <a:chExt cx="0" cy="0"/>
        </a:xfrm>
      </p:grpSpPr>
      <p:pic>
        <p:nvPicPr>
          <p:cNvPr id="14" name="Google Shape;14;p2" title="pytorchcon_na26_postertemplate-01.png"/>
          <p:cNvPicPr preferRelativeResize="0"/>
          <p:nvPr/>
        </p:nvPicPr>
        <p:blipFill rotWithShape="1">
          <a:blip r:embed="rId1">
            <a:alphaModFix/>
          </a:blip>
          <a:srcRect b="30" l="0" r="0" t="30"/>
          <a:stretch/>
        </p:blipFill>
        <p:spPr>
          <a:xfrm>
            <a:off x="-28782" y="1"/>
            <a:ext cx="32947195" cy="21945600"/>
          </a:xfrm>
          <a:prstGeom prst="rect">
            <a:avLst/>
          </a:prstGeom>
          <a:noFill/>
          <a:ln>
            <a:noFill/>
          </a:ln>
        </p:spPr>
      </p:pic>
      <p:sp>
        <p:nvSpPr>
          <p:cNvPr id="15" name="Google Shape;15;p2"/>
          <p:cNvSpPr txBox="1"/>
          <p:nvPr>
            <p:ph type="title"/>
          </p:nvPr>
        </p:nvSpPr>
        <p:spPr>
          <a:xfrm>
            <a:off x="6485809" y="0"/>
            <a:ext cx="20855700" cy="3149700"/>
          </a:xfrm>
          <a:prstGeom prst="rect">
            <a:avLst/>
          </a:prstGeom>
          <a:noFill/>
          <a:ln>
            <a:noFill/>
          </a:ln>
        </p:spPr>
        <p:txBody>
          <a:bodyPr anchorCtr="0" anchor="ctr" bIns="53275" lIns="102450" spcFirstLastPara="1" rIns="102450" wrap="square" tIns="53275">
            <a:noAutofit/>
          </a:bodyPr>
          <a:lstStyle>
            <a:lvl1pPr lvl="0" marR="0" rtl="0" algn="l">
              <a:lnSpc>
                <a:spcPct val="81000"/>
              </a:lnSpc>
              <a:spcBef>
                <a:spcPts val="0"/>
              </a:spcBef>
              <a:spcAft>
                <a:spcPts val="0"/>
              </a:spcAft>
              <a:buClr>
                <a:srgbClr val="000000"/>
              </a:buClr>
              <a:buSzPts val="1594"/>
              <a:buFont typeface="Arial"/>
              <a:buNone/>
              <a:defRPr b="0" i="0" sz="6830" u="none" cap="none" strike="noStrike">
                <a:solidFill>
                  <a:schemeClr val="lt1"/>
                </a:solidFill>
                <a:latin typeface="Arial"/>
                <a:ea typeface="Arial"/>
                <a:cs typeface="Arial"/>
                <a:sym typeface="Arial"/>
              </a:defRPr>
            </a:lvl1pPr>
            <a:lvl2pPr lvl="1"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2pPr>
            <a:lvl3pPr lvl="2"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3pPr>
            <a:lvl4pPr lvl="3"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4pPr>
            <a:lvl5pPr lvl="4"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5pPr>
            <a:lvl6pPr lvl="5"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6pPr>
            <a:lvl7pPr lvl="6"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7pPr>
            <a:lvl8pPr lvl="7"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8pPr>
            <a:lvl9pPr lvl="8" marR="0" rtl="0" algn="ctr">
              <a:lnSpc>
                <a:spcPct val="81000"/>
              </a:lnSpc>
              <a:spcBef>
                <a:spcPts val="0"/>
              </a:spcBef>
              <a:spcAft>
                <a:spcPts val="0"/>
              </a:spcAft>
              <a:buClr>
                <a:srgbClr val="000000"/>
              </a:buClr>
              <a:buSzPts val="1594"/>
              <a:buFont typeface="Arial"/>
              <a:buNone/>
              <a:defRPr b="0" i="0" sz="14911" u="none" cap="none" strike="noStrike">
                <a:solidFill>
                  <a:srgbClr val="000000"/>
                </a:solidFill>
                <a:latin typeface="Arial"/>
                <a:ea typeface="Arial"/>
                <a:cs typeface="Arial"/>
                <a:sym typeface="Arial"/>
              </a:defRPr>
            </a:lvl9pPr>
          </a:lstStyle>
          <a:p/>
        </p:txBody>
      </p:sp>
      <p:sp>
        <p:nvSpPr>
          <p:cNvPr id="16" name="Google Shape;16;p2"/>
          <p:cNvSpPr txBox="1"/>
          <p:nvPr>
            <p:ph idx="1" type="body"/>
          </p:nvPr>
        </p:nvSpPr>
        <p:spPr>
          <a:xfrm>
            <a:off x="1645925" y="5852165"/>
            <a:ext cx="27903900" cy="12725400"/>
          </a:xfrm>
          <a:prstGeom prst="rect">
            <a:avLst/>
          </a:prstGeom>
          <a:noFill/>
          <a:ln>
            <a:noFill/>
          </a:ln>
        </p:spPr>
        <p:txBody>
          <a:bodyPr anchorCtr="0" anchor="t" bIns="0" lIns="0" spcFirstLastPara="1" rIns="0" wrap="square" tIns="0">
            <a:noAutofit/>
          </a:bodyPr>
          <a:lstStyle>
            <a:lvl1pPr indent="-228600" lvl="0" marL="457200" marR="0" rtl="0" algn="l">
              <a:lnSpc>
                <a:spcPct val="81000"/>
              </a:lnSpc>
              <a:spcBef>
                <a:spcPts val="2711"/>
              </a:spcBef>
              <a:spcAft>
                <a:spcPts val="0"/>
              </a:spcAft>
              <a:buClr>
                <a:srgbClr val="000000"/>
              </a:buClr>
              <a:buSzPts val="1594"/>
              <a:buFont typeface="Arial"/>
              <a:buNone/>
              <a:defRPr b="0" i="0" sz="8195" u="none" cap="none" strike="noStrike">
                <a:solidFill>
                  <a:srgbClr val="000000"/>
                </a:solidFill>
                <a:latin typeface="Arial"/>
                <a:ea typeface="Arial"/>
                <a:cs typeface="Arial"/>
                <a:sym typeface="Arial"/>
              </a:defRPr>
            </a:lvl1pPr>
            <a:lvl2pPr indent="-228600" lvl="1" marL="914400" marR="0" rtl="0" algn="l">
              <a:lnSpc>
                <a:spcPct val="81000"/>
              </a:lnSpc>
              <a:spcBef>
                <a:spcPts val="2372"/>
              </a:spcBef>
              <a:spcAft>
                <a:spcPts val="0"/>
              </a:spcAft>
              <a:buClr>
                <a:srgbClr val="000000"/>
              </a:buClr>
              <a:buSzPts val="1594"/>
              <a:buFont typeface="Arial"/>
              <a:buNone/>
              <a:defRPr b="0" i="0" sz="7512" u="none" cap="none" strike="noStrike">
                <a:solidFill>
                  <a:srgbClr val="000000"/>
                </a:solidFill>
                <a:latin typeface="Arial"/>
                <a:ea typeface="Arial"/>
                <a:cs typeface="Arial"/>
                <a:sym typeface="Arial"/>
              </a:defRPr>
            </a:lvl2pPr>
            <a:lvl3pPr indent="-228600" lvl="2" marL="1371600" marR="0" rtl="0" algn="l">
              <a:lnSpc>
                <a:spcPct val="81000"/>
              </a:lnSpc>
              <a:spcBef>
                <a:spcPts val="2033"/>
              </a:spcBef>
              <a:spcAft>
                <a:spcPts val="0"/>
              </a:spcAft>
              <a:buClr>
                <a:srgbClr val="000000"/>
              </a:buClr>
              <a:buSzPts val="1594"/>
              <a:buFont typeface="Arial"/>
              <a:buNone/>
              <a:defRPr b="0" i="0" sz="6147" u="none" cap="none" strike="noStrike">
                <a:solidFill>
                  <a:srgbClr val="000000"/>
                </a:solidFill>
                <a:latin typeface="Arial"/>
                <a:ea typeface="Arial"/>
                <a:cs typeface="Arial"/>
                <a:sym typeface="Arial"/>
              </a:defRPr>
            </a:lvl3pPr>
            <a:lvl4pPr indent="-228600" lvl="3" marL="1828800" marR="0" rtl="0" algn="l">
              <a:lnSpc>
                <a:spcPct val="81000"/>
              </a:lnSpc>
              <a:spcBef>
                <a:spcPts val="1692"/>
              </a:spcBef>
              <a:spcAft>
                <a:spcPts val="0"/>
              </a:spcAft>
              <a:buClr>
                <a:srgbClr val="000000"/>
              </a:buClr>
              <a:buSzPts val="1594"/>
              <a:buFont typeface="Arial"/>
              <a:buNone/>
              <a:defRPr b="0" i="0" sz="5008" u="none" cap="none" strike="noStrike">
                <a:solidFill>
                  <a:srgbClr val="000000"/>
                </a:solidFill>
                <a:latin typeface="Arial"/>
                <a:ea typeface="Arial"/>
                <a:cs typeface="Arial"/>
                <a:sym typeface="Arial"/>
              </a:defRPr>
            </a:lvl4pPr>
            <a:lvl5pPr indent="-228600" lvl="4" marL="2286000" marR="0" rtl="0" algn="l">
              <a:lnSpc>
                <a:spcPct val="81000"/>
              </a:lnSpc>
              <a:spcBef>
                <a:spcPts val="1692"/>
              </a:spcBef>
              <a:spcAft>
                <a:spcPts val="0"/>
              </a:spcAft>
              <a:buClr>
                <a:srgbClr val="000000"/>
              </a:buClr>
              <a:buSzPts val="1594"/>
              <a:buFont typeface="Arial"/>
              <a:buNone/>
              <a:defRPr b="0" i="0" sz="5008" u="none" cap="none" strike="noStrike">
                <a:solidFill>
                  <a:srgbClr val="000000"/>
                </a:solidFill>
                <a:latin typeface="Arial"/>
                <a:ea typeface="Arial"/>
                <a:cs typeface="Arial"/>
                <a:sym typeface="Arial"/>
              </a:defRPr>
            </a:lvl5pPr>
            <a:lvl6pPr indent="-228600" lvl="5" marL="2743200" marR="0" rtl="0" algn="l">
              <a:lnSpc>
                <a:spcPct val="81000"/>
              </a:lnSpc>
              <a:spcBef>
                <a:spcPts val="1692"/>
              </a:spcBef>
              <a:spcAft>
                <a:spcPts val="0"/>
              </a:spcAft>
              <a:buClr>
                <a:srgbClr val="000000"/>
              </a:buClr>
              <a:buSzPts val="1594"/>
              <a:buFont typeface="Arial"/>
              <a:buNone/>
              <a:defRPr b="0" i="0" sz="6777" u="none" cap="none" strike="noStrike">
                <a:solidFill>
                  <a:srgbClr val="000000"/>
                </a:solidFill>
                <a:latin typeface="Arial"/>
                <a:ea typeface="Arial"/>
                <a:cs typeface="Arial"/>
                <a:sym typeface="Arial"/>
              </a:defRPr>
            </a:lvl6pPr>
            <a:lvl7pPr indent="-228600" lvl="6" marL="3200400" marR="0" rtl="0" algn="l">
              <a:lnSpc>
                <a:spcPct val="81000"/>
              </a:lnSpc>
              <a:spcBef>
                <a:spcPts val="1692"/>
              </a:spcBef>
              <a:spcAft>
                <a:spcPts val="0"/>
              </a:spcAft>
              <a:buClr>
                <a:srgbClr val="000000"/>
              </a:buClr>
              <a:buSzPts val="1594"/>
              <a:buFont typeface="Arial"/>
              <a:buNone/>
              <a:defRPr b="0" i="0" sz="6777" u="none" cap="none" strike="noStrike">
                <a:solidFill>
                  <a:srgbClr val="000000"/>
                </a:solidFill>
                <a:latin typeface="Arial"/>
                <a:ea typeface="Arial"/>
                <a:cs typeface="Arial"/>
                <a:sym typeface="Arial"/>
              </a:defRPr>
            </a:lvl7pPr>
            <a:lvl8pPr indent="-228600" lvl="7" marL="3657600" marR="0" rtl="0" algn="l">
              <a:lnSpc>
                <a:spcPct val="81000"/>
              </a:lnSpc>
              <a:spcBef>
                <a:spcPts val="1692"/>
              </a:spcBef>
              <a:spcAft>
                <a:spcPts val="0"/>
              </a:spcAft>
              <a:buClr>
                <a:srgbClr val="000000"/>
              </a:buClr>
              <a:buSzPts val="1594"/>
              <a:buFont typeface="Arial"/>
              <a:buNone/>
              <a:defRPr b="0" i="0" sz="6777" u="none" cap="none" strike="noStrike">
                <a:solidFill>
                  <a:srgbClr val="000000"/>
                </a:solidFill>
                <a:latin typeface="Arial"/>
                <a:ea typeface="Arial"/>
                <a:cs typeface="Arial"/>
                <a:sym typeface="Arial"/>
              </a:defRPr>
            </a:lvl8pPr>
            <a:lvl9pPr indent="-228600" lvl="8" marL="4114800" marR="0" rtl="0" algn="l">
              <a:lnSpc>
                <a:spcPct val="81000"/>
              </a:lnSpc>
              <a:spcBef>
                <a:spcPts val="1692"/>
              </a:spcBef>
              <a:spcAft>
                <a:spcPts val="0"/>
              </a:spcAft>
              <a:buClr>
                <a:srgbClr val="000000"/>
              </a:buClr>
              <a:buSzPts val="1594"/>
              <a:buFont typeface="Arial"/>
              <a:buNone/>
              <a:defRPr b="0" i="0" sz="6777" u="none" cap="none" strike="noStrike">
                <a:solidFill>
                  <a:srgbClr val="000000"/>
                </a:solidFill>
                <a:latin typeface="Arial"/>
                <a:ea typeface="Arial"/>
                <a:cs typeface="Arial"/>
                <a:sym typeface="Arial"/>
              </a:defRPr>
            </a:lvl9pPr>
          </a:lstStyle>
          <a:p/>
        </p:txBody>
      </p:sp>
      <p:sp>
        <p:nvSpPr>
          <p:cNvPr id="17" name="Google Shape;17;p2"/>
          <p:cNvSpPr txBox="1"/>
          <p:nvPr/>
        </p:nvSpPr>
        <p:spPr>
          <a:xfrm>
            <a:off x="10715636" y="21244573"/>
            <a:ext cx="16682100" cy="208800"/>
          </a:xfrm>
          <a:prstGeom prst="rect">
            <a:avLst/>
          </a:prstGeom>
          <a:noFill/>
          <a:ln>
            <a:noFill/>
          </a:ln>
        </p:spPr>
        <p:txBody>
          <a:bodyPr anchorCtr="0" anchor="t" bIns="0" lIns="0" spcFirstLastPara="1" rIns="0" wrap="square" tIns="0">
            <a:spAutoFit/>
          </a:bodyPr>
          <a:lstStyle/>
          <a:p>
            <a:pPr indent="0" lvl="0" marL="0" marR="0" rtl="0" algn="l">
              <a:lnSpc>
                <a:spcPct val="81000"/>
              </a:lnSpc>
              <a:spcBef>
                <a:spcPts val="0"/>
              </a:spcBef>
              <a:spcAft>
                <a:spcPts val="0"/>
              </a:spcAft>
              <a:buClr>
                <a:srgbClr val="000000"/>
              </a:buClr>
              <a:buSzPts val="1821"/>
              <a:buFont typeface="Times New Roman"/>
              <a:buNone/>
            </a:pPr>
            <a:r>
              <a:t/>
            </a:r>
            <a:endParaRPr b="0" i="0" sz="1675" u="none" cap="none" strike="noStrike">
              <a:solidFill>
                <a:srgbClr val="7F7F7F"/>
              </a:solidFill>
              <a:latin typeface="Arial"/>
              <a:ea typeface="Arial"/>
              <a:cs typeface="Arial"/>
              <a:sym typeface="Arial"/>
            </a:endParaRPr>
          </a:p>
        </p:txBody>
      </p:sp>
      <p:pic>
        <p:nvPicPr>
          <p:cNvPr id="18" name="Google Shape;18;p2" title="pytorchcon_na26_postertemplate-02.png"/>
          <p:cNvPicPr preferRelativeResize="0"/>
          <p:nvPr/>
        </p:nvPicPr>
        <p:blipFill>
          <a:blip r:embed="rId2">
            <a:alphaModFix/>
          </a:blip>
          <a:stretch>
            <a:fillRect/>
          </a:stretch>
        </p:blipFill>
        <p:spPr>
          <a:xfrm>
            <a:off x="762900" y="-154674"/>
            <a:ext cx="4882237" cy="34590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ibm.biz/controlflow-in-cuda-graphs" TargetMode="External"/><Relationship Id="rId4" Type="http://schemas.openxmlformats.org/officeDocument/2006/relationships/hyperlink" Target="https://ibm.biz/controlflow-in-cuda-graphs" TargetMode="External"/><Relationship Id="rIdImage1" Type="http://schemas.openxmlformats.org/officeDocument/2006/relationships/image" Target="../media/examples_qr.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ph type="title"/>
          </p:nvPr>
        </p:nvSpPr>
        <p:spPr>
          <a:xfrm>
            <a:off x="6485809" y="0"/>
            <a:ext cx="20855700" cy="3149700"/>
          </a:xfrm>
          <a:prstGeom prst="rect">
            <a:avLst/>
          </a:prstGeom>
          <a:noFill/>
          <a:ln>
            <a:noFill/>
          </a:ln>
        </p:spPr>
        <p:txBody>
          <a:bodyPr wrap="none" lIns="102450" tIns="53275" rIns="102450" bIns="53275" anchor="ctr">
            <a:noAutofit/>
          </a:bodyPr>
          <a:lstStyle/>
          <a:p>
            <a:pPr algn="l">
              <a:lnSpc>
                <a:spcPct val="100000"/>
              </a:lnSpc>
            </a:pPr>
            <a:r>
              <a:rPr lang="en-US" sz="5200" b="1" dirty="0">
                <a:solidFill>
                  <a:srgbClr val="FFFFFF"/>
                </a:solidFill>
                <a:latin typeface="Arial"/>
                <a:cs typeface="Arial"/>
              </a:rPr>
              <a:t>Shape-Stable Dynamic Control Flow in PyTorch CUDA Graphs</a:t>
            </a:r>
          </a:p>
          <a:p>
            <a:pPr algn="l">
              <a:lnSpc>
                <a:spcPct val="100000"/>
              </a:lnSpc>
              <a:spcBef>
                <a:spcPts val="1600"/>
              </a:spcBef>
            </a:pPr>
            <a:r>
              <a:rPr lang="en-US" sz="3200" b="1" dirty="0">
                <a:solidFill>
                  <a:srgbClr val="FFFFFF"/>
                </a:solidFill>
                <a:latin typeface="Arial"/>
                <a:cs typeface="Arial"/>
              </a:rPr>
              <a:t>Daniel Galvez</a:t>
            </a:r>
            <a:r>
              <a:rPr lang="en-US" sz="3200" b="0" dirty="0">
                <a:solidFill>
                  <a:srgbClr val="FFFFFF"/>
                </a:solidFill>
                <a:latin typeface="Arial"/>
                <a:cs typeface="Arial"/>
              </a:rPr>
              <a:t>, NVIDIA</a:t>
            </a:r>
            <a:r>
              <a:rPr lang="en-US" sz="3200" b="1" dirty="0">
                <a:solidFill>
                  <a:srgbClr val="FFFFFF"/>
                </a:solidFill>
                <a:latin typeface="Arial"/>
                <a:cs typeface="Arial"/>
              </a:rPr>
              <a:t>        Thomas Ortner</a:t>
            </a:r>
            <a:r>
              <a:rPr lang="en-US" sz="3200" b="0" dirty="0">
                <a:solidFill>
                  <a:srgbClr val="FFFFFF"/>
                </a:solidFill>
                <a:latin typeface="Arial"/>
                <a:cs typeface="Arial"/>
              </a:rPr>
              <a:t>, IBM Research</a:t>
            </a:r>
          </a:p>
        </p:txBody>
      </p:sp>
      <p:sp>
        <p:nvSpPr>
          <p:cNvPr id="3" name="Lead"/>
          <p:cNvSpPr txBox="1"/>
          <p:nvPr/>
        </p:nvSpPr>
        <p:spPr>
          <a:xfrm>
            <a:off x="609600" y="3378200"/>
            <a:ext cx="31699200" cy="396875"/>
          </a:xfrm>
          <a:prstGeom prst="rect">
            <a:avLst/>
          </a:prstGeom>
          <a:noFill/>
        </p:spPr>
        <p:txBody>
          <a:bodyPr wrap="none" lIns="0" tIns="0" rIns="0" bIns="0" anchor="t">
            <a:noAutofit/>
          </a:bodyPr>
          <a:lstStyle/>
          <a:p>
            <a:pPr marL="0" indent="0" algn="l">
              <a:buNone/>
            </a:pPr>
            <a:r>
              <a:rPr lang="en-US" sz="2500" b="0" dirty="0">
                <a:solidFill>
                  <a:srgbClr val="222222"/>
                </a:solidFill>
                <a:latin typeface="Arial"/>
                <a:cs typeface="Arial"/>
              </a:rPr>
              <a:t>Write control flow with torch.cond(), torch.while_loop(), or torch.switch(); PyTorch captures it as CUDA graph conditional nodes automatically.</a:t>
            </a:r>
            <a:endParaRPr lang="en-US" sz="2500" dirty="0"/>
          </a:p>
        </p:txBody>
      </p:sp>
      <p:sp>
        <p:nvSpPr>
          <p:cNvPr id="4" name="Past"/>
          <p:cNvSpPr txBox="1"/>
          <p:nvPr/>
        </p:nvSpPr>
        <p:spPr>
          <a:xfrm>
            <a:off x="609600" y="4038600"/>
            <a:ext cx="10210800" cy="3022600"/>
          </a:xfrm>
          <a:prstGeom prst="rect">
            <a:avLst/>
          </a:prstGeom>
          <a:noFill/>
        </p:spPr>
        <p:txBody>
          <a:bodyPr wrap="square" lIns="0" tIns="0" rIns="0" bIns="0" anchor="t">
            <a:noAutofit/>
          </a:bodyPr>
          <a:lstStyle/>
          <a:p>
            <a:pPr marL="0" indent="0" algn="l">
              <a:lnSpc>
                <a:spcPts val="3400"/>
              </a:lnSpc>
              <a:buNone/>
            </a:pPr>
            <a:r>
              <a:rPr lang="en-US" sz="3000" b="1" dirty="0">
                <a:solidFill>
                  <a:srgbClr val="1A6E6F"/>
                </a:solidFill>
                <a:latin typeface="Arial"/>
                <a:cs typeface="Arial"/>
              </a:rPr>
              <a:t>Past</a:t>
            </a:r>
            <a:endParaRPr lang="en-US" sz="2500" dirty="0"/>
          </a:p>
          <a:p>
            <a:pPr marL="0" indent="0" algn="l">
              <a:lnSpc>
                <a:spcPts val="3400"/>
              </a:lnSpc>
              <a:buNone/>
            </a:pPr>
            <a:r>
              <a:rPr lang="en-US" sz="2500" b="0" dirty="0">
                <a:solidFill>
                  <a:srgbClr val="222222"/>
                </a:solidFill>
                <a:latin typeface="Arial"/>
                <a:cs typeface="Arial"/>
              </a:rPr>
              <a:t>CUDA graphs could not capture any data-dependent control flow in PyTorch because that involved synchronizing with the host. Though CUDA graph conditional nodes can run data-dependent control flow fully on the GPU, they were not yet expressible via PyTorch. Users had to split their workload into multiple CUDA graphs, which is intrusive, hard to maintain, and causes GPU idle bubbles.</a:t>
            </a:r>
            <a:endParaRPr lang="en-US" sz="2500" dirty="0"/>
          </a:p>
        </p:txBody>
      </p:sp>
      <p:sp>
        <p:nvSpPr>
          <p:cNvPr id="5" name="Present"/>
          <p:cNvSpPr txBox="1"/>
          <p:nvPr/>
        </p:nvSpPr>
        <p:spPr>
          <a:xfrm>
            <a:off x="609600" y="7264400"/>
            <a:ext cx="10210800" cy="2590800"/>
          </a:xfrm>
          <a:prstGeom prst="rect">
            <a:avLst/>
          </a:prstGeom>
          <a:noFill/>
        </p:spPr>
        <p:txBody>
          <a:bodyPr wrap="square" lIns="0" tIns="0" rIns="0" bIns="0" anchor="t">
            <a:noAutofit/>
          </a:bodyPr>
          <a:lstStyle/>
          <a:p>
            <a:pPr marL="0" indent="0" algn="l">
              <a:lnSpc>
                <a:spcPts val="3400"/>
              </a:lnSpc>
              <a:buNone/>
            </a:pPr>
            <a:r>
              <a:rPr lang="en-US" sz="3000" b="1" dirty="0">
                <a:solidFill>
                  <a:srgbClr val="1A6E6F"/>
                </a:solidFill>
                <a:latin typeface="Arial"/>
                <a:cs typeface="Arial"/>
              </a:rPr>
              <a:t>Present</a:t>
            </a:r>
            <a:endParaRPr lang="en-US" sz="2500" dirty="0"/>
          </a:p>
          <a:p>
            <a:pPr marL="0" indent="0" algn="l">
              <a:lnSpc>
                <a:spcPts val="3400"/>
              </a:lnSpc>
              <a:buNone/>
            </a:pPr>
            <a:r>
              <a:rPr lang="en-US" sz="2500" b="0" dirty="0">
                <a:solidFill>
                  <a:srgbClr val="222222"/>
                </a:solidFill>
                <a:latin typeface="Arial"/>
                <a:cs typeface="Arial"/>
              </a:rPr>
              <a:t>Control flow expressed with torch.cond(), torch.while_loop(), or torch.switch() can now be lowered to a CUDA graph automatically. Outputs must keep a fixed shape across branches and loop iterations. Within that constraint, data-dependent control flow is useful for several real workloads, as the examples here demonstrate.</a:t>
            </a:r>
            <a:endParaRPr lang="en-US" sz="2500" dirty="0"/>
          </a:p>
        </p:txBody>
      </p:sp>
      <p:sp>
        <p:nvSpPr>
          <p:cNvPr id="6" name="QR quiet zone"/>
          <p:cNvSpPr/>
          <p:nvPr/>
        </p:nvSpPr>
        <p:spPr>
          <a:xfrm>
            <a:off x="323850" y="9848850"/>
            <a:ext cx="2476500" cy="2476500"/>
          </a:xfrm>
          <a:prstGeom prst="rect">
            <a:avLst/>
          </a:prstGeom>
          <a:solidFill>
            <a:srgbClr val="FFFFFF"/>
          </a:solidFill>
          <a:ln>
            <a:noFill/>
          </a:ln>
        </p:spPr>
      </p:sp>
      <p:pic>
        <p:nvPicPr>
          <p:cNvPr id="7" name="QR: further examples">
            <a:hlinkClick r:id="rId3"/>
          </p:cNvPr>
          <p:cNvPicPr>
            <a:picLocks noChangeAspect="1"/>
          </p:cNvPicPr>
          <p:nvPr/>
        </p:nvPicPr>
        <p:blipFill>
          <a:blip r:embed="rIdImage1"/>
          <a:stretch>
            <a:fillRect/>
          </a:stretch>
        </p:blipFill>
        <p:spPr>
          <a:xfrm>
            <a:off x="609600" y="10134600"/>
            <a:ext cx="1905000" cy="1905000"/>
          </a:xfrm>
          <a:prstGeom prst="rect">
            <a:avLst/>
          </a:prstGeom>
        </p:spPr>
      </p:pic>
      <p:sp>
        <p:nvSpPr>
          <p:cNvPr id="8" name="Further examples heading"/>
          <p:cNvSpPr txBox="1"/>
          <p:nvPr/>
        </p:nvSpPr>
        <p:spPr>
          <a:xfrm>
            <a:off x="2895600" y="10134600"/>
            <a:ext cx="7924800" cy="476250"/>
          </a:xfrm>
          <a:prstGeom prst="rect">
            <a:avLst/>
          </a:prstGeom>
          <a:noFill/>
        </p:spPr>
        <p:txBody>
          <a:bodyPr wrap="none" lIns="0" tIns="0" rIns="0" bIns="0" anchor="t">
            <a:noAutofit/>
          </a:bodyPr>
          <a:lstStyle/>
          <a:p>
            <a:pPr marL="0" indent="0" algn="l">
              <a:buNone/>
            </a:pPr>
            <a:r>
              <a:rPr lang="en-US" sz="3000" b="1" dirty="0">
                <a:solidFill>
                  <a:srgbClr val="C44918"/>
                </a:solidFill>
                <a:latin typeface="Arial"/>
                <a:cs typeface="Arial"/>
              </a:rPr>
              <a:t>Full example source code</a:t>
            </a:r>
            <a:endParaRPr lang="en-US" sz="3000" dirty="0"/>
          </a:p>
        </p:txBody>
      </p:sp>
      <p:sp>
        <p:nvSpPr>
          <p:cNvPr id="9" name="Further example 1"/>
          <p:cNvSpPr txBox="1"/>
          <p:nvPr/>
        </p:nvSpPr>
        <p:spPr>
          <a:xfrm>
            <a:off x="2895600" y="10668000"/>
            <a:ext cx="7924800" cy="333375"/>
          </a:xfrm>
          <a:prstGeom prst="rect">
            <a:avLst/>
          </a:prstGeom>
          <a:noFill/>
        </p:spPr>
        <p:txBody>
          <a:bodyPr wrap="none" lIns="0" tIns="0" rIns="0" bIns="0" anchor="t">
            <a:noAutofit/>
          </a:bodyPr>
          <a:lstStyle/>
          <a:p>
            <a:pPr marL="0" indent="0" algn="l">
              <a:buNone/>
            </a:pPr>
            <a:r>
              <a:rPr lang="en-US" sz="2100" b="1" dirty="0">
                <a:solidFill>
                  <a:srgbClr val="C44918"/>
                </a:solidFill>
                <a:latin typeface="Liberation Mono"/>
                <a:cs typeface="Liberation Mono"/>
              </a:rPr>
              <a:t>cond         </a:t>
            </a:r>
            <a:r>
              <a:rPr lang="en-US" sz="2100" b="0" dirty="0">
                <a:solidFill>
                  <a:srgbClr val="222222"/>
                </a:solidFill>
                <a:latin typeface="Arial"/>
                <a:cs typeface="Arial"/>
              </a:rPr>
              <a:t>optimizer skip</a:t>
            </a:r>
            <a:endParaRPr lang="en-US" sz="2100" dirty="0"/>
          </a:p>
        </p:txBody>
      </p:sp>
      <p:sp>
        <p:nvSpPr>
          <p:cNvPr id="10" name="Further example 2"/>
          <p:cNvSpPr txBox="1"/>
          <p:nvPr/>
        </p:nvSpPr>
        <p:spPr>
          <a:xfrm>
            <a:off x="2895600" y="11010900"/>
            <a:ext cx="7924800" cy="333375"/>
          </a:xfrm>
          <a:prstGeom prst="rect">
            <a:avLst/>
          </a:prstGeom>
          <a:noFill/>
        </p:spPr>
        <p:txBody>
          <a:bodyPr wrap="none" lIns="0" tIns="0" rIns="0" bIns="0" anchor="t">
            <a:noAutofit/>
          </a:bodyPr>
          <a:lstStyle/>
          <a:p>
            <a:pPr marL="0" indent="0" algn="l">
              <a:buNone/>
            </a:pPr>
            <a:r>
              <a:rPr lang="en-US" sz="2100" b="1" dirty="0">
                <a:solidFill>
                  <a:srgbClr val="C44918"/>
                </a:solidFill>
                <a:latin typeface="Liberation Mono"/>
                <a:cs typeface="Liberation Mono"/>
              </a:rPr>
              <a:t>switch       </a:t>
            </a:r>
            <a:r>
              <a:rPr lang="en-US" sz="2100" b="0" dirty="0">
                <a:solidFill>
                  <a:srgbClr val="222222"/>
                </a:solidFill>
                <a:latin typeface="Arial"/>
                <a:cs typeface="Arial"/>
              </a:rPr>
              <a:t>embedding buckets</a:t>
            </a:r>
            <a:endParaRPr lang="en-US" sz="2100" dirty="0"/>
          </a:p>
        </p:txBody>
      </p:sp>
      <p:sp>
        <p:nvSpPr>
          <p:cNvPr id="11" name="Further example 3"/>
          <p:cNvSpPr txBox="1"/>
          <p:nvPr/>
        </p:nvSpPr>
        <p:spPr>
          <a:xfrm>
            <a:off x="2895600" y="11353800"/>
            <a:ext cx="7924800" cy="333375"/>
          </a:xfrm>
          <a:prstGeom prst="rect">
            <a:avLst/>
          </a:prstGeom>
          <a:noFill/>
        </p:spPr>
        <p:txBody>
          <a:bodyPr wrap="none" lIns="0" tIns="0" rIns="0" bIns="0" anchor="t">
            <a:noAutofit/>
          </a:bodyPr>
          <a:lstStyle/>
          <a:p>
            <a:pPr marL="0" indent="0" algn="l">
              <a:buNone/>
            </a:pPr>
            <a:r>
              <a:rPr lang="en-US" sz="2100" b="1" dirty="0">
                <a:solidFill>
                  <a:srgbClr val="C44918"/>
                </a:solidFill>
                <a:latin typeface="Liberation Mono"/>
                <a:cs typeface="Liberation Mono"/>
              </a:rPr>
              <a:t>while_loop() </a:t>
            </a:r>
            <a:r>
              <a:rPr lang="en-US" sz="2100" b="0" dirty="0">
                <a:solidFill>
                  <a:srgbClr val="222222"/>
                </a:solidFill>
                <a:latin typeface="Arial"/>
                <a:cs typeface="Arial"/>
              </a:rPr>
              <a:t>MoE</a:t>
            </a:r>
            <a:endParaRPr lang="en-US" sz="2100" dirty="0"/>
          </a:p>
        </p:txBody>
      </p:sp>
      <p:sp>
        <p:nvSpPr>
          <p:cNvPr id="12" name="Further examples link"/>
          <p:cNvSpPr txBox="1"/>
          <p:nvPr/>
        </p:nvSpPr>
        <p:spPr>
          <a:xfrm>
            <a:off x="2895600" y="11747500"/>
            <a:ext cx="7924800" cy="301625"/>
          </a:xfrm>
          <a:prstGeom prst="rect">
            <a:avLst/>
          </a:prstGeom>
          <a:noFill/>
        </p:spPr>
        <p:txBody>
          <a:bodyPr wrap="none" lIns="0" tIns="0" rIns="0" bIns="0" anchor="t">
            <a:noAutofit/>
          </a:bodyPr>
          <a:lstStyle/>
          <a:p>
            <a:pPr marL="0" indent="0" algn="l">
              <a:buNone/>
            </a:pPr>
            <a:r>
              <a:rPr lang="en-US" sz="1900" b="0" dirty="0">
                <a:solidFill>
                  <a:srgbClr val="295897"/>
                </a:solidFill>
                <a:latin typeface="Arial"/>
                <a:cs typeface="Arial"/>
                <a:hlinkClick r:id="rId4"/>
              </a:rPr>
              <a:t>ibm.biz/controlflow-in-cuda-graphs</a:t>
            </a:r>
            <a:endParaRPr lang="en-US" sz="1900" dirty="0"/>
          </a:p>
        </p:txBody>
      </p:sp>
      <p:sp>
        <p:nvSpPr>
          <p:cNvPr id="13" name="Heading Skip optimizer if gradient is non-finite"/>
          <p:cNvSpPr txBox="1"/>
          <p:nvPr/>
        </p:nvSpPr>
        <p:spPr>
          <a:xfrm>
            <a:off x="11353800" y="4038600"/>
            <a:ext cx="10210800" cy="476250"/>
          </a:xfrm>
          <a:prstGeom prst="rect">
            <a:avLst/>
          </a:prstGeom>
          <a:noFill/>
        </p:spPr>
        <p:txBody>
          <a:bodyPr wrap="none" lIns="0" tIns="0" rIns="0" bIns="0" anchor="t">
            <a:noAutofit/>
          </a:bodyPr>
          <a:lstStyle/>
          <a:p>
            <a:pPr marL="0" indent="0" algn="l">
              <a:buNone/>
            </a:pPr>
            <a:r>
              <a:rPr lang="en-US" sz="3000" b="1" dirty="0">
                <a:solidFill>
                  <a:srgbClr val="1A6E6F"/>
                </a:solidFill>
                <a:latin typeface="Arial"/>
                <a:cs typeface="Arial"/>
              </a:rPr>
              <a:t>01  </a:t>
            </a:r>
            <a:r>
              <a:rPr lang="en-US" sz="3000" b="1" dirty="0">
                <a:solidFill>
                  <a:srgbClr val="222222"/>
                </a:solidFill>
                <a:latin typeface="Arial"/>
                <a:cs typeface="Arial"/>
              </a:rPr>
              <a:t>Skip optimizer if gradient is non-finite</a:t>
            </a:r>
            <a:endParaRPr lang="en-US" sz="3000" dirty="0"/>
          </a:p>
        </p:txBody>
      </p:sp>
      <p:sp>
        <p:nvSpPr>
          <p:cNvPr id="14" name="Subline Skip optimizer if gradient is non-finite"/>
          <p:cNvSpPr txBox="1"/>
          <p:nvPr/>
        </p:nvSpPr>
        <p:spPr>
          <a:xfrm>
            <a:off x="11353800" y="4572000"/>
            <a:ext cx="10210800" cy="333375"/>
          </a:xfrm>
          <a:prstGeom prst="rect">
            <a:avLst/>
          </a:prstGeom>
          <a:noFill/>
        </p:spPr>
        <p:txBody>
          <a:bodyPr wrap="none" lIns="0" tIns="0" rIns="0" bIns="0" anchor="t">
            <a:noAutofit/>
          </a:bodyPr>
          <a:lstStyle/>
          <a:p>
            <a:pPr marL="0" indent="0" algn="l">
              <a:buNone/>
            </a:pPr>
            <a:r>
              <a:rPr lang="en-US" sz="2100" b="0" dirty="0">
                <a:solidFill>
                  <a:srgbClr val="727070"/>
                </a:solidFill>
                <a:latin typeface="Arial"/>
                <a:cs typeface="Arial"/>
              </a:rPr>
              <a:t>torch.cond()  →  IF/ELSE conditional node</a:t>
            </a:r>
            <a:endParaRPr lang="en-US" sz="2100" dirty="0"/>
          </a:p>
        </p:txBody>
      </p:sp>
      <p:sp>
        <p:nvSpPr>
          <p:cNvPr id="15" name="Code: safe_sgd highlight"/>
          <p:cNvSpPr/>
          <p:nvPr/>
        </p:nvSpPr>
        <p:spPr>
          <a:xfrm>
            <a:off x="11252200" y="7404100"/>
            <a:ext cx="10414000" cy="393700"/>
          </a:xfrm>
          <a:prstGeom prst="rect">
            <a:avLst/>
          </a:prstGeom>
          <a:solidFill>
            <a:srgbClr val="FEF1C8"/>
          </a:solidFill>
          <a:ln>
            <a:noFill/>
          </a:ln>
        </p:spPr>
      </p:sp>
      <p:sp>
        <p:nvSpPr>
          <p:cNvPr id="16" name="Code: safe_sgd marker"/>
          <p:cNvSpPr/>
          <p:nvPr/>
        </p:nvSpPr>
        <p:spPr>
          <a:xfrm>
            <a:off x="11252200" y="7404100"/>
            <a:ext cx="38100" cy="393700"/>
          </a:xfrm>
          <a:prstGeom prst="rect">
            <a:avLst/>
          </a:prstGeom>
          <a:solidFill>
            <a:srgbClr val="C44918"/>
          </a:solidFill>
          <a:ln>
            <a:noFill/>
          </a:ln>
        </p:spPr>
      </p:sp>
      <p:sp>
        <p:nvSpPr>
          <p:cNvPr id="17" name="Code: safe_sgd"/>
          <p:cNvSpPr txBox="1"/>
          <p:nvPr/>
        </p:nvSpPr>
        <p:spPr>
          <a:xfrm>
            <a:off x="11353800" y="5130800"/>
            <a:ext cx="10210800" cy="2667000"/>
          </a:xfrm>
          <a:prstGeom prst="rect">
            <a:avLst/>
          </a:prstGeom>
          <a:noFill/>
        </p:spPr>
        <p:txBody>
          <a:bodyPr wrap="none" lIns="0" tIns="0" rIns="0" bIns="0" anchor="t">
            <a:noAutofit/>
          </a:bodyPr>
          <a:lstStyle/>
          <a:p>
            <a:pPr marL="0" indent="0" algn="l">
              <a:lnSpc>
                <a:spcPts val="3000"/>
              </a:lnSpc>
              <a:buNone/>
            </a:pPr>
            <a:r>
              <a:rPr lang="en-US" sz="2300" b="1" dirty="0">
                <a:solidFill>
                  <a:srgbClr val="295897"/>
                </a:solidFill>
                <a:latin typeface="Liberation Mono"/>
                <a:cs typeface="Liberation Mono"/>
              </a:rPr>
              <a:t>def</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safe_sgd</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param</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grad</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lr</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t>
            </a:r>
            <a:endParaRPr lang="en-US" sz="2300" dirty="0"/>
          </a:p>
          <a:p>
            <a:pPr marL="0" indent="0" algn="l">
              <a:lnSpc>
                <a:spcPts val="3000"/>
              </a:lnSpc>
              <a:buNone/>
            </a:pP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finite</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torch</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isfinite</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grad</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all</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t>
            </a:r>
            <a:endParaRPr lang="en-US" sz="2300" dirty="0"/>
          </a:p>
          <a:p>
            <a:pPr marL="0" indent="0" algn="l">
              <a:lnSpc>
                <a:spcPts val="3000"/>
              </a:lnSpc>
              <a:buNone/>
            </a:pPr>
            <a:endParaRPr lang="en-US" sz="2300" dirty="0"/>
          </a:p>
          <a:p>
            <a:pPr marL="0" indent="0" algn="l">
              <a:lnSpc>
                <a:spcPts val="3000"/>
              </a:lnSpc>
              <a:buNone/>
            </a:pPr>
            <a:r>
              <a:rPr lang="en-US" sz="2300" b="0" dirty="0">
                <a:solidFill>
                  <a:srgbClr val="222222"/>
                </a:solidFill>
                <a:latin typeface="Liberation Mono"/>
                <a:cs typeface="Liberation Mono"/>
              </a:rPr>
              <a:t>    </a:t>
            </a:r>
            <a:r>
              <a:rPr lang="en-US" sz="2300" b="1" dirty="0">
                <a:solidFill>
                  <a:srgbClr val="295897"/>
                </a:solidFill>
                <a:latin typeface="Liberation Mono"/>
                <a:cs typeface="Liberation Mono"/>
              </a:rPr>
              <a:t>def</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update</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t>
            </a:r>
            <a:endParaRPr lang="en-US" sz="2300" dirty="0"/>
          </a:p>
          <a:p>
            <a:pPr marL="0" indent="0" algn="l">
              <a:lnSpc>
                <a:spcPts val="3000"/>
              </a:lnSpc>
              <a:buNone/>
            </a:pP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param</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sub_</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lr</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grad</a:t>
            </a:r>
            <a:r>
              <a:rPr lang="en-US" sz="2300" b="0" dirty="0">
                <a:solidFill>
                  <a:srgbClr val="222222"/>
                </a:solidFill>
                <a:latin typeface="Liberation Mono"/>
                <a:cs typeface="Liberation Mono"/>
              </a:rPr>
              <a:t>)</a:t>
            </a:r>
            <a:endParaRPr lang="en-US" sz="2300" dirty="0"/>
          </a:p>
          <a:p>
            <a:pPr marL="0" indent="0" algn="l">
              <a:lnSpc>
                <a:spcPts val="3000"/>
              </a:lnSpc>
              <a:buNone/>
            </a:pPr>
            <a:endParaRPr lang="en-US" sz="2300" dirty="0"/>
          </a:p>
          <a:p>
            <a:pPr marL="0" indent="0" algn="l">
              <a:lnSpc>
                <a:spcPts val="3000"/>
              </a:lnSpc>
              <a:buNone/>
            </a:pPr>
            <a:r>
              <a:rPr lang="en-US" sz="2300" b="0" dirty="0">
                <a:solidFill>
                  <a:srgbClr val="222222"/>
                </a:solidFill>
                <a:latin typeface="Liberation Mono"/>
                <a:cs typeface="Liberation Mono"/>
              </a:rPr>
              <a:t>    </a:t>
            </a:r>
            <a:r>
              <a:rPr lang="en-US" sz="2300" b="1" dirty="0">
                <a:solidFill>
                  <a:srgbClr val="C44918"/>
                </a:solidFill>
                <a:latin typeface="Liberation Mono"/>
                <a:cs typeface="Liberation Mono"/>
              </a:rPr>
              <a:t>torch</a:t>
            </a:r>
            <a:r>
              <a:rPr lang="en-US" sz="2300" b="1" dirty="0">
                <a:solidFill>
                  <a:srgbClr val="C44918"/>
                </a:solidFill>
                <a:latin typeface="Liberation Mono"/>
                <a:cs typeface="Liberation Mono"/>
              </a:rPr>
              <a:t>.</a:t>
            </a:r>
            <a:r>
              <a:rPr lang="en-US" sz="2300" b="1" dirty="0">
                <a:solidFill>
                  <a:srgbClr val="C44918"/>
                </a:solidFill>
                <a:latin typeface="Liberation Mono"/>
                <a:cs typeface="Liberation Mono"/>
              </a:rPr>
              <a:t>cond</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finite</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update</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1" dirty="0">
                <a:solidFill>
                  <a:srgbClr val="295897"/>
                </a:solidFill>
                <a:latin typeface="Liberation Mono"/>
                <a:cs typeface="Liberation Mono"/>
              </a:rPr>
              <a:t>lambda</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1" dirty="0">
                <a:solidFill>
                  <a:srgbClr val="295897"/>
                </a:solidFill>
                <a:latin typeface="Liberation Mono"/>
                <a:cs typeface="Liberation Mono"/>
              </a:rPr>
              <a:t>None</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 </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t>
            </a:r>
            <a:r>
              <a:rPr lang="en-US" sz="2300" b="0" dirty="0">
                <a:solidFill>
                  <a:srgbClr val="222222"/>
                </a:solidFill>
                <a:latin typeface="Liberation Mono"/>
                <a:cs typeface="Liberation Mono"/>
              </a:rPr>
              <a:t>)</a:t>
            </a:r>
            <a:endParaRPr lang="en-US" sz="2300" dirty="0"/>
          </a:p>
        </p:txBody>
      </p:sp>
      <p:sp>
        <p:nvSpPr>
          <p:cNvPr id="18" name="Capture label"/>
          <p:cNvSpPr txBox="1"/>
          <p:nvPr/>
        </p:nvSpPr>
        <p:spPr>
          <a:xfrm>
            <a:off x="11353800" y="8128000"/>
            <a:ext cx="10210800" cy="333375"/>
          </a:xfrm>
          <a:prstGeom prst="rect">
            <a:avLst/>
          </a:prstGeom>
          <a:noFill/>
        </p:spPr>
        <p:txBody>
          <a:bodyPr wrap="none" lIns="0" tIns="0" rIns="0" bIns="0" anchor="t">
            <a:noAutofit/>
          </a:bodyPr>
          <a:lstStyle/>
          <a:p>
            <a:pPr marL="0" indent="0" algn="l">
              <a:buNone/>
            </a:pPr>
            <a:r>
              <a:rPr lang="en-US" sz="2100" b="1" dirty="0">
                <a:solidFill>
                  <a:srgbClr val="222222"/>
                </a:solidFill>
                <a:latin typeface="Arial"/>
                <a:cs typeface="Arial"/>
              </a:rPr>
              <a:t>Capture once, then replay:</a:t>
            </a:r>
            <a:endParaRPr lang="en-US" sz="2100" dirty="0"/>
          </a:p>
        </p:txBody>
      </p:sp>
      <p:sp>
        <p:nvSpPr>
          <p:cNvPr id="19" name="Code: capture"/>
          <p:cNvSpPr txBox="1"/>
          <p:nvPr/>
        </p:nvSpPr>
        <p:spPr>
          <a:xfrm>
            <a:off x="11353800" y="8585200"/>
            <a:ext cx="10210800" cy="685800"/>
          </a:xfrm>
          <a:prstGeom prst="rect">
            <a:avLst/>
          </a:prstGeom>
          <a:noFill/>
        </p:spPr>
        <p:txBody>
          <a:bodyPr wrap="none" lIns="0" tIns="0" rIns="0" bIns="0" anchor="t">
            <a:noAutofit/>
          </a:bodyPr>
          <a:lstStyle/>
          <a:p>
            <a:pPr marL="0" indent="0" algn="l">
              <a:lnSpc>
                <a:spcPts val="2700"/>
              </a:lnSpc>
              <a:buNone/>
            </a:pPr>
            <a:r>
              <a:rPr lang="en-US" sz="2100" b="0" dirty="0">
                <a:solidFill>
                  <a:srgbClr val="222222"/>
                </a:solidFill>
                <a:latin typeface="Liberation Mono"/>
                <a:cs typeface="Liberation Mono"/>
              </a:rPr>
              <a:t>step</a:t>
            </a:r>
            <a:r>
              <a:rPr lang="en-US" sz="2100" b="0" dirty="0">
                <a:solidFill>
                  <a:srgbClr val="222222"/>
                </a:solidFill>
                <a:latin typeface="Liberation Mono"/>
                <a:cs typeface="Liberation Mono"/>
              </a:rPr>
              <a:t> </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 </a:t>
            </a:r>
            <a:r>
              <a:rPr lang="en-US" sz="2100" b="0" dirty="0">
                <a:solidFill>
                  <a:srgbClr val="222222"/>
                </a:solidFill>
                <a:latin typeface="Liberation Mono"/>
                <a:cs typeface="Liberation Mono"/>
              </a:rPr>
              <a:t>torch</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compile</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safe_sgd</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 </a:t>
            </a:r>
            <a:r>
              <a:rPr lang="en-US" sz="2100" b="0" dirty="0">
                <a:solidFill>
                  <a:srgbClr val="222222"/>
                </a:solidFill>
                <a:latin typeface="Liberation Mono"/>
                <a:cs typeface="Liberation Mono"/>
              </a:rPr>
              <a:t>backend</a:t>
            </a:r>
            <a:r>
              <a:rPr lang="en-US" sz="2100" b="0" dirty="0">
                <a:solidFill>
                  <a:srgbClr val="222222"/>
                </a:solidFill>
                <a:latin typeface="Liberation Mono"/>
                <a:cs typeface="Liberation Mono"/>
              </a:rPr>
              <a:t>=</a:t>
            </a:r>
            <a:r>
              <a:rPr lang="en-US" sz="2100" b="0" dirty="0">
                <a:solidFill>
                  <a:srgbClr val="1A6E6F"/>
                </a:solidFill>
                <a:latin typeface="Liberation Mono"/>
                <a:cs typeface="Liberation Mono"/>
              </a:rPr>
              <a:t>"</a:t>
            </a:r>
            <a:r>
              <a:rPr lang="en-US" sz="2100" b="0" dirty="0">
                <a:solidFill>
                  <a:srgbClr val="1A6E6F"/>
                </a:solidFill>
                <a:latin typeface="Liberation Mono"/>
                <a:cs typeface="Liberation Mono"/>
              </a:rPr>
              <a:t>cudagraphs</a:t>
            </a:r>
            <a:r>
              <a:rPr lang="en-US" sz="2100" b="0" dirty="0">
                <a:solidFill>
                  <a:srgbClr val="1A6E6F"/>
                </a:solidFill>
                <a:latin typeface="Liberation Mono"/>
                <a:cs typeface="Liberation Mono"/>
              </a:rPr>
              <a:t>"</a:t>
            </a:r>
            <a:r>
              <a:rPr lang="en-US" sz="2100" b="0" dirty="0">
                <a:solidFill>
                  <a:srgbClr val="222222"/>
                </a:solidFill>
                <a:latin typeface="Liberation Mono"/>
                <a:cs typeface="Liberation Mono"/>
              </a:rPr>
              <a:t>)</a:t>
            </a:r>
            <a:endParaRPr lang="en-US" sz="2100" dirty="0"/>
          </a:p>
          <a:p>
            <a:pPr marL="0" indent="0" algn="l">
              <a:lnSpc>
                <a:spcPts val="2700"/>
              </a:lnSpc>
              <a:buNone/>
            </a:pPr>
            <a:r>
              <a:rPr lang="en-US" sz="2100" b="0" dirty="0">
                <a:solidFill>
                  <a:srgbClr val="222222"/>
                </a:solidFill>
                <a:latin typeface="Liberation Mono"/>
                <a:cs typeface="Liberation Mono"/>
              </a:rPr>
              <a:t>step</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param</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 </a:t>
            </a:r>
            <a:r>
              <a:rPr lang="en-US" sz="2100" b="0" dirty="0">
                <a:solidFill>
                  <a:srgbClr val="222222"/>
                </a:solidFill>
                <a:latin typeface="Liberation Mono"/>
                <a:cs typeface="Liberation Mono"/>
              </a:rPr>
              <a:t>grad</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 </a:t>
            </a:r>
            <a:r>
              <a:rPr lang="en-US" sz="2100" b="0" dirty="0">
                <a:solidFill>
                  <a:srgbClr val="222222"/>
                </a:solidFill>
                <a:latin typeface="Liberation Mono"/>
                <a:cs typeface="Liberation Mono"/>
              </a:rPr>
              <a:t>lr</a:t>
            </a:r>
            <a:r>
              <a:rPr lang="en-US" sz="2100" b="0" dirty="0">
                <a:solidFill>
                  <a:srgbClr val="222222"/>
                </a:solidFill>
                <a:latin typeface="Liberation Mono"/>
                <a:cs typeface="Liberation Mono"/>
              </a:rPr>
              <a:t>)</a:t>
            </a:r>
            <a:r>
              <a:rPr lang="en-US" sz="2100" b="0" dirty="0">
                <a:solidFill>
                  <a:srgbClr val="222222"/>
                </a:solidFill>
                <a:latin typeface="Liberation Mono"/>
                <a:cs typeface="Liberation Mono"/>
              </a:rPr>
              <a:t>  </a:t>
            </a:r>
            <a:r>
              <a:rPr lang="en-US" sz="2100" b="0" dirty="0">
                <a:solidFill>
                  <a:srgbClr val="727070"/>
                </a:solidFill>
                <a:latin typeface="Liberation Mono"/>
                <a:cs typeface="Liberation Mono"/>
              </a:rPr>
              <a:t># replays one graph</a:t>
            </a:r>
            <a:endParaRPr lang="en-US" sz="2100" dirty="0"/>
          </a:p>
        </p:txBody>
      </p:sp>
      <p:sp>
        <p:nvSpPr>
          <p:cNvPr id="20" name="Note: cond 1"/>
          <p:cNvSpPr txBox="1"/>
          <p:nvPr/>
        </p:nvSpPr>
        <p:spPr>
          <a:xfrm>
            <a:off x="11353800" y="9626600"/>
            <a:ext cx="10210800" cy="333375"/>
          </a:xfrm>
          <a:prstGeom prst="rect">
            <a:avLst/>
          </a:prstGeom>
          <a:noFill/>
        </p:spPr>
        <p:txBody>
          <a:bodyPr wrap="none" lIns="0" tIns="0" rIns="0" bIns="0" anchor="t">
            <a:noAutofit/>
          </a:bodyPr>
          <a:lstStyle/>
          <a:p>
            <a:pPr marL="0" indent="0" algn="l">
              <a:buNone/>
            </a:pPr>
            <a:r>
              <a:rPr lang="en-US" sz="2100" b="0" dirty="0">
                <a:solidFill>
                  <a:srgbClr val="222222"/>
                </a:solidFill>
                <a:latin typeface="Arial"/>
                <a:cs typeface="Arial"/>
              </a:rPr>
              <a:t>The predicate </a:t>
            </a:r>
            <a:r>
              <a:rPr lang="en-US" sz="2100" b="0" dirty="0">
                <a:solidFill>
                  <a:srgbClr val="222222"/>
                </a:solidFill>
                <a:latin typeface="Liberation Mono"/>
                <a:cs typeface="Liberation Mono"/>
              </a:rPr>
              <a:t>finite</a:t>
            </a:r>
            <a:r>
              <a:rPr lang="en-US" sz="2100" b="0" dirty="0">
                <a:solidFill>
                  <a:srgbClr val="222222"/>
                </a:solidFill>
                <a:latin typeface="Arial"/>
                <a:cs typeface="Arial"/>
              </a:rPr>
              <a:t> never leaves the GPU: no .item(), no CPU sync.</a:t>
            </a:r>
            <a:endParaRPr lang="en-US" sz="2100" dirty="0"/>
          </a:p>
        </p:txBody>
      </p:sp>
      <p:sp>
        <p:nvSpPr>
          <p:cNvPr id="21" name="Note: cond 2"/>
          <p:cNvSpPr txBox="1"/>
          <p:nvPr/>
        </p:nvSpPr>
        <p:spPr>
          <a:xfrm>
            <a:off x="11353800" y="10033000"/>
            <a:ext cx="10210800" cy="333375"/>
          </a:xfrm>
          <a:prstGeom prst="rect">
            <a:avLst/>
          </a:prstGeom>
          <a:noFill/>
        </p:spPr>
        <p:txBody>
          <a:bodyPr wrap="none" lIns="0" tIns="0" rIns="0" bIns="0" anchor="t">
            <a:noAutofit/>
          </a:bodyPr>
          <a:lstStyle/>
          <a:p>
            <a:pPr marL="0" indent="0" algn="l">
              <a:buNone/>
            </a:pPr>
            <a:r>
              <a:rPr lang="en-US" sz="2100" b="0" dirty="0">
                <a:solidFill>
                  <a:srgbClr val="222222"/>
                </a:solidFill>
                <a:latin typeface="Arial"/>
                <a:cs typeface="Arial"/>
              </a:rPr>
              <a:t>The same graph updates param or leaves it unchanged on each replay.</a:t>
            </a:r>
            <a:endParaRPr lang="en-US" sz="2100" dirty="0"/>
          </a:p>
        </p:txBody>
      </p:sp>
      <p:sp>
        <p:nvSpPr>
          <p:cNvPr id="22" name="Note: cond 3"/>
          <p:cNvSpPr txBox="1"/>
          <p:nvPr/>
        </p:nvSpPr>
        <p:spPr>
          <a:xfrm>
            <a:off x="11353800" y="10439400"/>
            <a:ext cx="10210800" cy="333375"/>
          </a:xfrm>
          <a:prstGeom prst="rect">
            <a:avLst/>
          </a:prstGeom>
          <a:noFill/>
        </p:spPr>
        <p:txBody>
          <a:bodyPr wrap="none" lIns="0" tIns="0" rIns="0" bIns="0" anchor="t">
            <a:noAutofit/>
          </a:bodyPr>
          <a:lstStyle/>
          <a:p>
            <a:pPr marL="0" indent="0" algn="l">
              <a:buNone/>
            </a:pPr>
            <a:r>
              <a:rPr lang="en-US" sz="2100" b="0" dirty="0">
                <a:solidFill>
                  <a:srgbClr val="727070"/>
                </a:solidFill>
                <a:latin typeface="Arial"/>
                <a:cs typeface="Arial"/>
              </a:rPr>
              <a:t>Before a Python if on the </a:t>
            </a:r>
            <a:r>
              <a:rPr lang="en-US" sz="2100" b="0" dirty="0">
                <a:solidFill>
                  <a:srgbClr val="727070"/>
                </a:solidFill>
                <a:latin typeface="Liberation Mono"/>
                <a:cs typeface="Liberation Mono"/>
              </a:rPr>
              <a:t>finite</a:t>
            </a:r>
            <a:r>
              <a:rPr lang="en-US" sz="2100" b="0" dirty="0">
                <a:solidFill>
                  <a:srgbClr val="727070"/>
                </a:solidFill>
                <a:latin typeface="Arial"/>
                <a:cs typeface="Arial"/>
              </a:rPr>
              <a:t> flag forces a CPU sync and breaks capture.</a:t>
            </a:r>
            <a:endParaRPr lang="en-US" sz="2100" dirty="0"/>
          </a:p>
        </p:txBody>
      </p:sp>
      <p:sp>
        <p:nvSpPr>
          <p:cNvPr id="23" name="Heading The captured CUDA graph"/>
          <p:cNvSpPr txBox="1"/>
          <p:nvPr/>
        </p:nvSpPr>
        <p:spPr>
          <a:xfrm>
            <a:off x="22098000" y="4038600"/>
            <a:ext cx="10210800" cy="476250"/>
          </a:xfrm>
          <a:prstGeom prst="rect">
            <a:avLst/>
          </a:prstGeom>
          <a:noFill/>
        </p:spPr>
        <p:txBody>
          <a:bodyPr wrap="none" lIns="0" tIns="0" rIns="0" bIns="0" anchor="t">
            <a:noAutofit/>
          </a:bodyPr>
          <a:lstStyle/>
          <a:p>
            <a:pPr marL="0" indent="0" algn="l">
              <a:buNone/>
            </a:pPr>
            <a:r>
              <a:rPr lang="en-US" sz="3000" b="1" dirty="0">
                <a:solidFill>
                  <a:srgbClr val="222222"/>
                </a:solidFill>
                <a:latin typeface="Arial"/>
                <a:cs typeface="Arial"/>
              </a:rPr>
              <a:t>The captured CUDA graph</a:t>
            </a:r>
            <a:endParaRPr lang="en-US" sz="3000" dirty="0"/>
          </a:p>
        </p:txBody>
      </p:sp>
      <p:sp>
        <p:nvSpPr>
          <p:cNvPr id="24" name="Subline The captured CUDA graph"/>
          <p:cNvSpPr txBox="1"/>
          <p:nvPr/>
        </p:nvSpPr>
        <p:spPr>
          <a:xfrm>
            <a:off x="22098000" y="4572000"/>
            <a:ext cx="10210800" cy="301625"/>
          </a:xfrm>
          <a:prstGeom prst="rect">
            <a:avLst/>
          </a:prstGeom>
          <a:noFill/>
        </p:spPr>
        <p:txBody>
          <a:bodyPr wrap="none" lIns="0" tIns="0" rIns="0" bIns="0" anchor="t">
            <a:noAutofit/>
          </a:bodyPr>
          <a:lstStyle/>
          <a:p>
            <a:pPr marL="0" indent="0" algn="l">
              <a:buNone/>
            </a:pPr>
            <a:r>
              <a:rPr lang="en-US" sz="1900" b="0" dirty="0">
                <a:solidFill>
                  <a:srgbClr val="727070"/>
                </a:solidFill>
                <a:latin typeface="Arial"/>
                <a:cs typeface="Arial"/>
              </a:rPr>
              <a:t>What safe_sgd becomes: one graph, GPU-side branch, no CPU involvement</a:t>
            </a:r>
            <a:endParaRPr lang="en-US" sz="1900" dirty="0"/>
          </a:p>
        </p:txBody>
      </p:sp>
      <p:sp>
        <p:nvSpPr>
          <p:cNvPr id="25" name="Kernel: isfinite"/>
          <p:cNvSpPr/>
          <p:nvPr/>
        </p:nvSpPr>
        <p:spPr>
          <a:xfrm>
            <a:off x="24218900" y="5130800"/>
            <a:ext cx="5969000" cy="685800"/>
          </a:xfrm>
          <a:prstGeom prst="roundRect">
            <a:avLst>
              <a:gd name="adj" fmla="val 14815"/>
            </a:avLst>
          </a:prstGeom>
          <a:solidFill>
            <a:srgbClr val="F2F2F2"/>
          </a:solidFill>
          <a:ln w="19050">
            <a:solidFill>
              <a:srgbClr val="9E9E9E"/>
            </a:solidFill>
            <a:round/>
          </a:ln>
        </p:spPr>
        <p:txBody>
          <a:bodyPr wrap="none" lIns="0" tIns="0" rIns="0" bIns="0" anchor="ctr">
            <a:noAutofit/>
          </a:bodyPr>
          <a:lstStyle/>
          <a:p>
            <a:pPr marL="0" indent="0" algn="ctr">
              <a:buNone/>
            </a:pPr>
            <a:r>
              <a:rPr lang="en-US" sz="2100" b="0" dirty="0">
                <a:solidFill>
                  <a:srgbClr val="222222"/>
                </a:solidFill>
                <a:latin typeface="Liberation Mono"/>
                <a:cs typeface="Liberation Mono"/>
              </a:rPr>
              <a:t>isfinite(grad).all()</a:t>
            </a:r>
            <a:endParaRPr lang="en-US" sz="2100" dirty="0"/>
          </a:p>
        </p:txBody>
      </p:sp>
      <p:sp>
        <p:nvSpPr>
          <p:cNvPr id="26" name="Note: kernels"/>
          <p:cNvSpPr txBox="1"/>
          <p:nvPr/>
        </p:nvSpPr>
        <p:spPr>
          <a:xfrm>
            <a:off x="30365700" y="5321300"/>
            <a:ext cx="1943100" cy="285750"/>
          </a:xfrm>
          <a:prstGeom prst="rect">
            <a:avLst/>
          </a:prstGeom>
          <a:noFill/>
        </p:spPr>
        <p:txBody>
          <a:bodyPr wrap="none" lIns="0" tIns="0" rIns="0" bIns="0" anchor="t">
            <a:noAutofit/>
          </a:bodyPr>
          <a:lstStyle/>
          <a:p>
            <a:pPr marL="0" indent="0" algn="l">
              <a:buNone/>
            </a:pPr>
            <a:r>
              <a:rPr lang="en-US" sz="1800" b="0" dirty="0">
                <a:solidFill>
                  <a:srgbClr val="727070"/>
                </a:solidFill>
                <a:latin typeface="Arial"/>
                <a:cs typeface="Arial"/>
              </a:rPr>
              <a:t>kernel nodes</a:t>
            </a:r>
            <a:endParaRPr lang="en-US" sz="1800" dirty="0"/>
          </a:p>
        </p:txBody>
      </p:sp>
      <p:cxnSp>
        <p:nvCxnSpPr>
          <p:cNvPr id="27" name="Arrow"/>
          <p:cNvCxnSpPr/>
          <p:nvPr/>
        </p:nvCxnSpPr>
        <p:spPr>
          <a:xfrm>
            <a:off x="27203400" y="5816600"/>
            <a:ext cx="0" cy="381000"/>
          </a:xfrm>
          <a:prstGeom prst="straightConnector1">
            <a:avLst/>
          </a:prstGeom>
          <a:ln w="31750">
            <a:solidFill>
              <a:srgbClr val="727070"/>
            </a:solidFill>
            <a:round/>
            <a:tailEnd type="triangle" w="lg" len="lg"/>
          </a:ln>
        </p:spPr>
      </p:cxnSp>
      <p:sp>
        <p:nvSpPr>
          <p:cNvPr id="28" name="Kernel: set handle"/>
          <p:cNvSpPr/>
          <p:nvPr/>
        </p:nvSpPr>
        <p:spPr>
          <a:xfrm>
            <a:off x="24218900" y="6197600"/>
            <a:ext cx="5969000" cy="685800"/>
          </a:xfrm>
          <a:prstGeom prst="roundRect">
            <a:avLst>
              <a:gd name="adj" fmla="val 14815"/>
            </a:avLst>
          </a:prstGeom>
          <a:solidFill>
            <a:srgbClr val="E3EFEF"/>
          </a:solidFill>
          <a:ln w="19050">
            <a:solidFill>
              <a:srgbClr val="1A6E6F"/>
            </a:solidFill>
            <a:round/>
          </a:ln>
        </p:spPr>
        <p:txBody>
          <a:bodyPr wrap="none" lIns="0" tIns="0" rIns="0" bIns="0" anchor="ctr">
            <a:noAutofit/>
          </a:bodyPr>
          <a:lstStyle/>
          <a:p>
            <a:pPr marL="0" indent="0" algn="ctr">
              <a:buNone/>
            </a:pPr>
            <a:r>
              <a:rPr lang="en-US" sz="1900" b="0" dirty="0">
                <a:solidFill>
                  <a:srgbClr val="222222"/>
                </a:solidFill>
                <a:latin typeface="Liberation Mono"/>
                <a:cs typeface="Liberation Mono"/>
              </a:rPr>
              <a:t>set_conditional(handle, finite)</a:t>
            </a:r>
            <a:endParaRPr lang="en-US" sz="1900" dirty="0"/>
          </a:p>
        </p:txBody>
      </p:sp>
      <p:sp>
        <p:nvSpPr>
          <p:cNvPr id="29" name="Note: handle"/>
          <p:cNvSpPr txBox="1"/>
          <p:nvPr/>
        </p:nvSpPr>
        <p:spPr>
          <a:xfrm>
            <a:off x="30365700" y="6388100"/>
            <a:ext cx="1943100" cy="285750"/>
          </a:xfrm>
          <a:prstGeom prst="rect">
            <a:avLst/>
          </a:prstGeom>
          <a:noFill/>
        </p:spPr>
        <p:txBody>
          <a:bodyPr wrap="none" lIns="0" tIns="0" rIns="0" bIns="0" anchor="t">
            <a:noAutofit/>
          </a:bodyPr>
          <a:lstStyle/>
          <a:p>
            <a:pPr marL="0" indent="0" algn="l">
              <a:buNone/>
            </a:pPr>
            <a:r>
              <a:rPr lang="en-US" sz="1800" b="0" dirty="0">
                <a:solidFill>
                  <a:srgbClr val="727070"/>
                </a:solidFill>
                <a:latin typeface="Arial"/>
                <a:cs typeface="Arial"/>
              </a:rPr>
              <a:t>1-thread kernel</a:t>
            </a:r>
            <a:endParaRPr lang="en-US" sz="1800" dirty="0"/>
          </a:p>
        </p:txBody>
      </p:sp>
      <p:cxnSp>
        <p:nvCxnSpPr>
          <p:cNvPr id="30" name="Arrow"/>
          <p:cNvCxnSpPr/>
          <p:nvPr/>
        </p:nvCxnSpPr>
        <p:spPr>
          <a:xfrm>
            <a:off x="27203400" y="6883400"/>
            <a:ext cx="0" cy="381000"/>
          </a:xfrm>
          <a:prstGeom prst="straightConnector1">
            <a:avLst/>
          </a:prstGeom>
          <a:ln w="31750">
            <a:solidFill>
              <a:srgbClr val="727070"/>
            </a:solidFill>
            <a:round/>
            <a:tailEnd type="triangle" w="lg" len="lg"/>
          </a:ln>
        </p:spPr>
      </p:cxnSp>
      <p:sp>
        <p:nvSpPr>
          <p:cNvPr id="31" name="IF/ELSE node"/>
          <p:cNvSpPr/>
          <p:nvPr/>
        </p:nvSpPr>
        <p:spPr>
          <a:xfrm>
            <a:off x="22199600" y="7264400"/>
            <a:ext cx="10007600" cy="3200400"/>
          </a:xfrm>
          <a:prstGeom prst="roundRect">
            <a:avLst>
              <a:gd name="adj" fmla="val 5556"/>
            </a:avLst>
          </a:prstGeom>
          <a:solidFill>
            <a:srgbClr val="FFF7E8"/>
          </a:solidFill>
          <a:ln w="38100">
            <a:solidFill>
              <a:srgbClr val="C44918"/>
            </a:solidFill>
            <a:round/>
          </a:ln>
        </p:spPr>
      </p:sp>
      <p:sp>
        <p:nvSpPr>
          <p:cNvPr id="32" name="IF/ELSE node title"/>
          <p:cNvSpPr txBox="1"/>
          <p:nvPr/>
        </p:nvSpPr>
        <p:spPr>
          <a:xfrm>
            <a:off x="22428200" y="7416800"/>
            <a:ext cx="5003800" cy="349250"/>
          </a:xfrm>
          <a:prstGeom prst="rect">
            <a:avLst/>
          </a:prstGeom>
          <a:noFill/>
        </p:spPr>
        <p:txBody>
          <a:bodyPr wrap="none" lIns="0" tIns="0" rIns="0" bIns="0" anchor="t">
            <a:noAutofit/>
          </a:bodyPr>
          <a:lstStyle/>
          <a:p>
            <a:pPr marL="0" indent="0" algn="l">
              <a:buNone/>
            </a:pPr>
            <a:r>
              <a:rPr lang="en-US" sz="2200" b="1" dirty="0">
                <a:solidFill>
                  <a:srgbClr val="C44918"/>
                </a:solidFill>
                <a:latin typeface="Arial"/>
                <a:cs typeface="Arial"/>
              </a:rPr>
              <a:t>IF / ELSE conditional node</a:t>
            </a:r>
            <a:endParaRPr lang="en-US" sz="2200" dirty="0"/>
          </a:p>
        </p:txBody>
      </p:sp>
      <p:sp>
        <p:nvSpPr>
          <p:cNvPr id="33" name="IF/ELSE node handle"/>
          <p:cNvSpPr txBox="1"/>
          <p:nvPr/>
        </p:nvSpPr>
        <p:spPr>
          <a:xfrm>
            <a:off x="27203400" y="7442200"/>
            <a:ext cx="4775200" cy="301625"/>
          </a:xfrm>
          <a:prstGeom prst="rect">
            <a:avLst/>
          </a:prstGeom>
          <a:noFill/>
        </p:spPr>
        <p:txBody>
          <a:bodyPr wrap="none" lIns="0" tIns="0" rIns="0" bIns="0" anchor="t">
            <a:noAutofit/>
          </a:bodyPr>
          <a:lstStyle/>
          <a:p>
            <a:pPr marL="0" indent="0" algn="r">
              <a:buNone/>
            </a:pPr>
            <a:r>
              <a:rPr lang="en-US" sz="1900" b="0" dirty="0">
                <a:solidFill>
                  <a:srgbClr val="1A6E6F"/>
                </a:solidFill>
                <a:latin typeface="Liberation Mono"/>
                <a:cs typeface="Liberation Mono"/>
              </a:rPr>
              <a:t>handle = finite</a:t>
            </a:r>
            <a:endParaRPr lang="en-US" sz="1900" dirty="0"/>
          </a:p>
        </p:txBody>
      </p:sp>
      <p:sp>
        <p:nvSpPr>
          <p:cNvPr id="34" name="Body 0"/>
          <p:cNvSpPr/>
          <p:nvPr/>
        </p:nvSpPr>
        <p:spPr>
          <a:xfrm>
            <a:off x="22428200" y="8001000"/>
            <a:ext cx="4660900" cy="2184400"/>
          </a:xfrm>
          <a:prstGeom prst="roundRect">
            <a:avLst>
              <a:gd name="adj" fmla="val 3488"/>
            </a:avLst>
          </a:prstGeom>
          <a:solidFill>
            <a:srgbClr val="FFFFFF"/>
          </a:solidFill>
          <a:ln w="15875">
            <a:solidFill>
              <a:srgbClr val="9E9E9E"/>
            </a:solidFill>
            <a:round/>
          </a:ln>
        </p:spPr>
      </p:sp>
      <p:sp>
        <p:nvSpPr>
          <p:cNvPr id="35" name="Body 0 label"/>
          <p:cNvSpPr txBox="1"/>
          <p:nvPr/>
        </p:nvSpPr>
        <p:spPr>
          <a:xfrm>
            <a:off x="22631400" y="8178800"/>
            <a:ext cx="4254500" cy="301625"/>
          </a:xfrm>
          <a:prstGeom prst="rect">
            <a:avLst/>
          </a:prstGeom>
          <a:noFill/>
        </p:spPr>
        <p:txBody>
          <a:bodyPr wrap="none" lIns="0" tIns="0" rIns="0" bIns="0" anchor="t">
            <a:noAutofit/>
          </a:bodyPr>
          <a:lstStyle/>
          <a:p>
            <a:pPr marL="0" indent="0" algn="l">
              <a:buNone/>
            </a:pPr>
            <a:r>
              <a:rPr lang="en-US" sz="1900" b="1" dirty="0">
                <a:solidFill>
                  <a:srgbClr val="222222"/>
                </a:solidFill>
                <a:latin typeface="Arial"/>
                <a:cs typeface="Arial"/>
              </a:rPr>
              <a:t>child graph 0: runs if finite</a:t>
            </a:r>
            <a:endParaRPr lang="en-US" sz="1900" dirty="0"/>
          </a:p>
        </p:txBody>
      </p:sp>
      <p:sp>
        <p:nvSpPr>
          <p:cNvPr id="36" name="Body 0 kernel"/>
          <p:cNvSpPr/>
          <p:nvPr/>
        </p:nvSpPr>
        <p:spPr>
          <a:xfrm>
            <a:off x="22631400" y="8788400"/>
            <a:ext cx="4254500" cy="711200"/>
          </a:xfrm>
          <a:prstGeom prst="roundRect">
            <a:avLst>
              <a:gd name="adj" fmla="val 14286"/>
            </a:avLst>
          </a:prstGeom>
          <a:solidFill>
            <a:srgbClr val="F2F2F2"/>
          </a:solidFill>
          <a:ln w="19050">
            <a:solidFill>
              <a:srgbClr val="9E9E9E"/>
            </a:solidFill>
            <a:round/>
          </a:ln>
        </p:spPr>
        <p:txBody>
          <a:bodyPr wrap="none" lIns="0" tIns="0" rIns="0" bIns="0" anchor="ctr">
            <a:noAutofit/>
          </a:bodyPr>
          <a:lstStyle/>
          <a:p>
            <a:pPr marL="0" indent="0" algn="ctr">
              <a:buNone/>
            </a:pPr>
            <a:r>
              <a:rPr lang="en-US" sz="1900" b="0" dirty="0">
                <a:solidFill>
                  <a:srgbClr val="222222"/>
                </a:solidFill>
                <a:latin typeface="Liberation Mono"/>
                <a:cs typeface="Liberation Mono"/>
              </a:rPr>
              <a:t>param.sub_(lr * grad)</a:t>
            </a:r>
            <a:endParaRPr lang="en-US" sz="1900" dirty="0"/>
          </a:p>
        </p:txBody>
      </p:sp>
      <p:sp>
        <p:nvSpPr>
          <p:cNvPr id="37" name="Body 0 note"/>
          <p:cNvSpPr txBox="1"/>
          <p:nvPr/>
        </p:nvSpPr>
        <p:spPr>
          <a:xfrm>
            <a:off x="22631400" y="9677400"/>
            <a:ext cx="4254500" cy="269875"/>
          </a:xfrm>
          <a:prstGeom prst="rect">
            <a:avLst/>
          </a:prstGeom>
          <a:noFill/>
        </p:spPr>
        <p:txBody>
          <a:bodyPr wrap="none" lIns="0" tIns="0" rIns="0" bIns="0" anchor="t">
            <a:noAutofit/>
          </a:bodyPr>
          <a:lstStyle/>
          <a:p>
            <a:pPr marL="0" indent="0" algn="l">
              <a:buNone/>
            </a:pPr>
            <a:r>
              <a:rPr lang="en-US" sz="1700" b="0" dirty="0">
                <a:solidFill>
                  <a:srgbClr val="727070"/>
                </a:solidFill>
                <a:latin typeface="Arial"/>
                <a:cs typeface="Arial"/>
              </a:rPr>
              <a:t>update param in place</a:t>
            </a:r>
            <a:endParaRPr lang="en-US" sz="1700" dirty="0"/>
          </a:p>
        </p:txBody>
      </p:sp>
      <p:sp>
        <p:nvSpPr>
          <p:cNvPr id="38" name="Body 1"/>
          <p:cNvSpPr/>
          <p:nvPr/>
        </p:nvSpPr>
        <p:spPr>
          <a:xfrm>
            <a:off x="27317700" y="8001000"/>
            <a:ext cx="4660900" cy="2184400"/>
          </a:xfrm>
          <a:prstGeom prst="roundRect">
            <a:avLst>
              <a:gd name="adj" fmla="val 3488"/>
            </a:avLst>
          </a:prstGeom>
          <a:solidFill>
            <a:srgbClr val="FFFFFF"/>
          </a:solidFill>
          <a:ln w="15875">
            <a:solidFill>
              <a:srgbClr val="9E9E9E"/>
            </a:solidFill>
            <a:round/>
          </a:ln>
        </p:spPr>
      </p:sp>
      <p:sp>
        <p:nvSpPr>
          <p:cNvPr id="39" name="Body 1 label"/>
          <p:cNvSpPr txBox="1"/>
          <p:nvPr/>
        </p:nvSpPr>
        <p:spPr>
          <a:xfrm>
            <a:off x="27520900" y="8178800"/>
            <a:ext cx="4254500" cy="301625"/>
          </a:xfrm>
          <a:prstGeom prst="rect">
            <a:avLst/>
          </a:prstGeom>
          <a:noFill/>
        </p:spPr>
        <p:txBody>
          <a:bodyPr wrap="none" lIns="0" tIns="0" rIns="0" bIns="0" anchor="t">
            <a:noAutofit/>
          </a:bodyPr>
          <a:lstStyle/>
          <a:p>
            <a:pPr marL="0" indent="0" algn="l">
              <a:buNone/>
            </a:pPr>
            <a:r>
              <a:rPr lang="en-US" sz="1900" b="1" dirty="0">
                <a:solidFill>
                  <a:srgbClr val="222222"/>
                </a:solidFill>
                <a:latin typeface="Arial"/>
                <a:cs typeface="Arial"/>
              </a:rPr>
              <a:t>child graph 1: runs otherwise</a:t>
            </a:r>
            <a:endParaRPr lang="en-US" sz="1900" dirty="0"/>
          </a:p>
        </p:txBody>
      </p:sp>
      <p:sp>
        <p:nvSpPr>
          <p:cNvPr id="40" name="Body 1 kernel"/>
          <p:cNvSpPr/>
          <p:nvPr/>
        </p:nvSpPr>
        <p:spPr>
          <a:xfrm>
            <a:off x="27520900" y="8788400"/>
            <a:ext cx="4254500" cy="711200"/>
          </a:xfrm>
          <a:prstGeom prst="roundRect">
            <a:avLst>
              <a:gd name="adj" fmla="val 14286"/>
            </a:avLst>
          </a:prstGeom>
          <a:solidFill>
            <a:srgbClr val="F2F2F2"/>
          </a:solidFill>
          <a:ln w="19050">
            <a:solidFill>
              <a:srgbClr val="9E9E9E"/>
            </a:solidFill>
            <a:round/>
          </a:ln>
        </p:spPr>
        <p:txBody>
          <a:bodyPr wrap="none" lIns="0" tIns="0" rIns="0" bIns="0" anchor="ctr">
            <a:noAutofit/>
          </a:bodyPr>
          <a:lstStyle/>
          <a:p>
            <a:pPr marL="0" indent="0" algn="ctr">
              <a:buNone/>
            </a:pPr>
            <a:r>
              <a:rPr lang="en-US" sz="1900" b="0" dirty="0">
                <a:solidFill>
                  <a:srgbClr val="222222"/>
                </a:solidFill>
                <a:latin typeface="Liberation Mono"/>
                <a:cs typeface="Liberation Mono"/>
              </a:rPr>
              <a:t>no-op</a:t>
            </a:r>
            <a:endParaRPr lang="en-US" sz="1900" dirty="0"/>
          </a:p>
        </p:txBody>
      </p:sp>
      <p:sp>
        <p:nvSpPr>
          <p:cNvPr id="41" name="Body 1 note"/>
          <p:cNvSpPr txBox="1"/>
          <p:nvPr/>
        </p:nvSpPr>
        <p:spPr>
          <a:xfrm>
            <a:off x="27520900" y="9677400"/>
            <a:ext cx="4254500" cy="269875"/>
          </a:xfrm>
          <a:prstGeom prst="rect">
            <a:avLst/>
          </a:prstGeom>
          <a:noFill/>
        </p:spPr>
        <p:txBody>
          <a:bodyPr wrap="none" lIns="0" tIns="0" rIns="0" bIns="0" anchor="t">
            <a:noAutofit/>
          </a:bodyPr>
          <a:lstStyle/>
          <a:p>
            <a:pPr marL="0" indent="0" algn="l">
              <a:buNone/>
            </a:pPr>
            <a:r>
              <a:rPr lang="en-US" sz="1700" b="0" dirty="0">
                <a:solidFill>
                  <a:srgbClr val="727070"/>
                </a:solidFill>
                <a:latin typeface="Arial"/>
                <a:cs typeface="Arial"/>
              </a:rPr>
              <a:t>leave param unchanged</a:t>
            </a:r>
            <a:endParaRPr lang="en-US" sz="1700" dirty="0"/>
          </a:p>
        </p:txBody>
      </p:sp>
      <p:cxnSp>
        <p:nvCxnSpPr>
          <p:cNvPr id="42" name="Arrow"/>
          <p:cNvCxnSpPr/>
          <p:nvPr/>
        </p:nvCxnSpPr>
        <p:spPr>
          <a:xfrm>
            <a:off x="27203400" y="10464800"/>
            <a:ext cx="0" cy="381000"/>
          </a:xfrm>
          <a:prstGeom prst="straightConnector1">
            <a:avLst/>
          </a:prstGeom>
          <a:ln w="31750">
            <a:solidFill>
              <a:srgbClr val="727070"/>
            </a:solidFill>
            <a:round/>
            <a:tailEnd type="triangle" w="lg" len="lg"/>
          </a:ln>
        </p:spPr>
      </p:cxnSp>
      <p:sp>
        <p:nvSpPr>
          <p:cNvPr id="43" name="Parameter buffer"/>
          <p:cNvSpPr/>
          <p:nvPr/>
        </p:nvSpPr>
        <p:spPr>
          <a:xfrm>
            <a:off x="23393400" y="10845800"/>
            <a:ext cx="7620000" cy="685800"/>
          </a:xfrm>
          <a:prstGeom prst="roundRect">
            <a:avLst>
              <a:gd name="adj" fmla="val 14815"/>
            </a:avLst>
          </a:prstGeom>
          <a:solidFill>
            <a:srgbClr val="F2F2F2"/>
          </a:solidFill>
          <a:ln w="19050">
            <a:solidFill>
              <a:srgbClr val="9E9E9E"/>
            </a:solidFill>
            <a:round/>
          </a:ln>
        </p:spPr>
        <p:txBody>
          <a:bodyPr wrap="none" lIns="0" tIns="0" rIns="0" bIns="0" anchor="ctr">
            <a:noAutofit/>
          </a:bodyPr>
          <a:lstStyle/>
          <a:p>
            <a:pPr marL="0" indent="0" algn="ctr">
              <a:buNone/>
            </a:pPr>
            <a:r>
              <a:rPr lang="en-US" sz="2000" b="0" dirty="0">
                <a:solidFill>
                  <a:srgbClr val="222222"/>
                </a:solidFill>
                <a:latin typeface="Arial"/>
                <a:cs typeface="Arial"/>
              </a:rPr>
              <a:t>param: same buffer  →  next kernels</a:t>
            </a:r>
            <a:endParaRPr lang="en-US" sz="2000" dirty="0"/>
          </a:p>
        </p:txBody>
      </p:sp>
      <p:sp>
        <p:nvSpPr>
          <p:cNvPr id="44" name="Divider"/>
          <p:cNvSpPr/>
          <p:nvPr/>
        </p:nvSpPr>
        <p:spPr>
          <a:xfrm>
            <a:off x="11087100" y="4038600"/>
            <a:ext cx="12700" cy="17551400"/>
          </a:xfrm>
          <a:prstGeom prst="rect">
            <a:avLst/>
          </a:prstGeom>
          <a:solidFill>
            <a:srgbClr val="D5D4D5"/>
          </a:solidFill>
          <a:ln>
            <a:noFill/>
          </a:ln>
        </p:spPr>
      </p:sp>
      <p:sp>
        <p:nvSpPr>
          <p:cNvPr id="45" name="Divider"/>
          <p:cNvSpPr/>
          <p:nvPr/>
        </p:nvSpPr>
        <p:spPr>
          <a:xfrm>
            <a:off x="21831300" y="4038600"/>
            <a:ext cx="12700" cy="7797800"/>
          </a:xfrm>
          <a:prstGeom prst="rect">
            <a:avLst/>
          </a:prstGeom>
          <a:solidFill>
            <a:srgbClr val="D5D4D5"/>
          </a:solidFill>
          <a:ln>
            <a:noFill/>
          </a:ln>
        </p:spPr>
      </p:sp>
      <p:sp>
        <p:nvSpPr>
          <p:cNvPr id="46" name="Rule"/>
          <p:cNvSpPr/>
          <p:nvPr/>
        </p:nvSpPr>
        <p:spPr>
          <a:xfrm>
            <a:off x="11087100" y="12090400"/>
            <a:ext cx="21221700" cy="25400"/>
          </a:xfrm>
          <a:prstGeom prst="rect">
            <a:avLst/>
          </a:prstGeom>
          <a:solidFill>
            <a:srgbClr val="1A6E6F"/>
          </a:solidFill>
          <a:ln>
            <a:noFill/>
          </a:ln>
        </p:spPr>
      </p:sp>
      <p:sp>
        <p:nvSpPr>
          <p:cNvPr id="47" name="Heading Support matrix"/>
          <p:cNvSpPr txBox="1"/>
          <p:nvPr/>
        </p:nvSpPr>
        <p:spPr>
          <a:xfrm>
            <a:off x="609600" y="12344400"/>
            <a:ext cx="10210800" cy="476250"/>
          </a:xfrm>
          <a:prstGeom prst="rect">
            <a:avLst/>
          </a:prstGeom>
          <a:noFill/>
        </p:spPr>
        <p:txBody>
          <a:bodyPr wrap="none" lIns="0" tIns="0" rIns="0" bIns="0" anchor="t">
            <a:noAutofit/>
          </a:bodyPr>
          <a:lstStyle/>
          <a:p>
            <a:pPr marL="0" indent="0" algn="l">
              <a:buNone/>
            </a:pPr>
            <a:r>
              <a:rPr lang="en-US" sz="3000" b="1" dirty="0">
                <a:solidFill>
                  <a:srgbClr val="222222"/>
                </a:solidFill>
                <a:latin typeface="Arial"/>
                <a:cs typeface="Arial"/>
              </a:rPr>
              <a:t>Support matrix</a:t>
            </a:r>
            <a:endParaRPr lang="en-US" sz="3000" dirty="0"/>
          </a:p>
        </p:txBody>
      </p:sp>
      <p:sp>
        <p:nvSpPr>
          <p:cNvPr id="48" name="Subline Support matrix"/>
          <p:cNvSpPr txBox="1"/>
          <p:nvPr/>
        </p:nvSpPr>
        <p:spPr>
          <a:xfrm>
            <a:off x="609600" y="12877800"/>
            <a:ext cx="10210800" cy="333375"/>
          </a:xfrm>
          <a:prstGeom prst="rect">
            <a:avLst/>
          </a:prstGeom>
          <a:noFill/>
        </p:spPr>
        <p:txBody>
          <a:bodyPr wrap="none" lIns="0" tIns="0" rIns="0" bIns="0" anchor="t">
            <a:noAutofit/>
          </a:bodyPr>
          <a:lstStyle/>
          <a:p>
            <a:pPr marL="0" indent="0" algn="l">
              <a:buNone/>
            </a:pPr>
            <a:r>
              <a:rPr lang="en-US" sz="2100" b="0" dirty="0">
                <a:solidFill>
                  <a:srgbClr val="727070"/>
                </a:solidFill>
                <a:latin typeface="Arial"/>
                <a:cs typeface="Arial"/>
              </a:rPr>
              <a:t>Control-flow ops and the CUDA graph node each lowers to</a:t>
            </a:r>
            <a:endParaRPr lang="en-US" sz="2100" dirty="0"/>
          </a:p>
        </p:txBody>
      </p:sp>
      <p:sp>
        <p:nvSpPr>
          <p:cNvPr id="49" name="Matrix op cond"/>
          <p:cNvSpPr txBox="1"/>
          <p:nvPr/>
        </p:nvSpPr>
        <p:spPr>
          <a:xfrm>
            <a:off x="4292600" y="13512800"/>
            <a:ext cx="2175933" cy="365125"/>
          </a:xfrm>
          <a:prstGeom prst="rect">
            <a:avLst/>
          </a:prstGeom>
          <a:noFill/>
        </p:spPr>
        <p:txBody>
          <a:bodyPr wrap="none" lIns="0" tIns="0" rIns="0" bIns="0" anchor="t">
            <a:noAutofit/>
          </a:bodyPr>
          <a:lstStyle/>
          <a:p>
            <a:pPr marL="0" indent="0" algn="ctr">
              <a:buNone/>
            </a:pPr>
            <a:r>
              <a:rPr lang="en-US" sz="2300" b="1" dirty="0">
                <a:solidFill>
                  <a:srgbClr val="C44918"/>
                </a:solidFill>
                <a:latin typeface="Liberation Mono"/>
                <a:cs typeface="Liberation Mono"/>
              </a:rPr>
              <a:t>cond</a:t>
            </a:r>
            <a:endParaRPr lang="en-US" sz="2300" dirty="0"/>
          </a:p>
        </p:txBody>
      </p:sp>
      <p:sp>
        <p:nvSpPr>
          <p:cNvPr id="50" name="Matrix node cond"/>
          <p:cNvSpPr txBox="1"/>
          <p:nvPr/>
        </p:nvSpPr>
        <p:spPr>
          <a:xfrm>
            <a:off x="4292600" y="13944600"/>
            <a:ext cx="2175933" cy="285750"/>
          </a:xfrm>
          <a:prstGeom prst="rect">
            <a:avLst/>
          </a:prstGeom>
          <a:noFill/>
        </p:spPr>
        <p:txBody>
          <a:bodyPr wrap="none" lIns="0" tIns="0" rIns="0" bIns="0" anchor="t">
            <a:noAutofit/>
          </a:bodyPr>
          <a:lstStyle/>
          <a:p>
            <a:pPr marL="0" indent="0" algn="ctr">
              <a:buNone/>
            </a:pPr>
            <a:r>
              <a:rPr lang="en-US" sz="1800" b="1" dirty="0">
                <a:solidFill>
                  <a:srgbClr val="1A6E6F"/>
                </a:solidFill>
                <a:latin typeface="Arial"/>
                <a:cs typeface="Arial"/>
              </a:rPr>
              <a:t>IF / ELSE</a:t>
            </a:r>
            <a:endParaRPr lang="en-US" sz="1800" dirty="0"/>
          </a:p>
        </p:txBody>
      </p:sp>
      <p:sp>
        <p:nvSpPr>
          <p:cNvPr id="51" name="Matrix op while_loop"/>
          <p:cNvSpPr txBox="1"/>
          <p:nvPr/>
        </p:nvSpPr>
        <p:spPr>
          <a:xfrm>
            <a:off x="6468533" y="13512800"/>
            <a:ext cx="2175933" cy="365125"/>
          </a:xfrm>
          <a:prstGeom prst="rect">
            <a:avLst/>
          </a:prstGeom>
          <a:noFill/>
        </p:spPr>
        <p:txBody>
          <a:bodyPr wrap="none" lIns="0" tIns="0" rIns="0" bIns="0" anchor="t">
            <a:noAutofit/>
          </a:bodyPr>
          <a:lstStyle/>
          <a:p>
            <a:pPr marL="0" indent="0" algn="ctr">
              <a:buNone/>
            </a:pPr>
            <a:r>
              <a:rPr lang="en-US" sz="2300" b="1" dirty="0">
                <a:solidFill>
                  <a:srgbClr val="C44918"/>
                </a:solidFill>
                <a:latin typeface="Liberation Mono"/>
                <a:cs typeface="Liberation Mono"/>
              </a:rPr>
              <a:t>while_loop</a:t>
            </a:r>
            <a:endParaRPr lang="en-US" sz="2300" dirty="0"/>
          </a:p>
        </p:txBody>
      </p:sp>
      <p:sp>
        <p:nvSpPr>
          <p:cNvPr id="52" name="Matrix node while_loop"/>
          <p:cNvSpPr txBox="1"/>
          <p:nvPr/>
        </p:nvSpPr>
        <p:spPr>
          <a:xfrm>
            <a:off x="6468533" y="13944600"/>
            <a:ext cx="2175933" cy="285750"/>
          </a:xfrm>
          <a:prstGeom prst="rect">
            <a:avLst/>
          </a:prstGeom>
          <a:noFill/>
        </p:spPr>
        <p:txBody>
          <a:bodyPr wrap="none" lIns="0" tIns="0" rIns="0" bIns="0" anchor="t">
            <a:noAutofit/>
          </a:bodyPr>
          <a:lstStyle/>
          <a:p>
            <a:pPr marL="0" indent="0" algn="ctr">
              <a:buNone/>
            </a:pPr>
            <a:r>
              <a:rPr lang="en-US" sz="1800" b="1" dirty="0">
                <a:solidFill>
                  <a:srgbClr val="1A6E6F"/>
                </a:solidFill>
                <a:latin typeface="Arial"/>
                <a:cs typeface="Arial"/>
              </a:rPr>
              <a:t>WHILE</a:t>
            </a:r>
            <a:endParaRPr lang="en-US" sz="1800" dirty="0"/>
          </a:p>
        </p:txBody>
      </p:sp>
      <p:sp>
        <p:nvSpPr>
          <p:cNvPr id="53" name="Matrix op switch"/>
          <p:cNvSpPr txBox="1"/>
          <p:nvPr/>
        </p:nvSpPr>
        <p:spPr>
          <a:xfrm>
            <a:off x="8644467" y="13512800"/>
            <a:ext cx="2175933" cy="365125"/>
          </a:xfrm>
          <a:prstGeom prst="rect">
            <a:avLst/>
          </a:prstGeom>
          <a:noFill/>
        </p:spPr>
        <p:txBody>
          <a:bodyPr wrap="none" lIns="0" tIns="0" rIns="0" bIns="0" anchor="t">
            <a:noAutofit/>
          </a:bodyPr>
          <a:lstStyle/>
          <a:p>
            <a:pPr marL="0" indent="0" algn="ctr">
              <a:buNone/>
            </a:pPr>
            <a:r>
              <a:rPr lang="en-US" sz="2300" b="1" dirty="0">
                <a:solidFill>
                  <a:srgbClr val="C44918"/>
                </a:solidFill>
                <a:latin typeface="Liberation Mono"/>
                <a:cs typeface="Liberation Mono"/>
              </a:rPr>
              <a:t>switch</a:t>
            </a:r>
            <a:endParaRPr lang="en-US" sz="2300" dirty="0"/>
          </a:p>
        </p:txBody>
      </p:sp>
      <p:sp>
        <p:nvSpPr>
          <p:cNvPr id="54" name="Matrix node switch"/>
          <p:cNvSpPr txBox="1"/>
          <p:nvPr/>
        </p:nvSpPr>
        <p:spPr>
          <a:xfrm>
            <a:off x="8644467" y="13944600"/>
            <a:ext cx="2175933" cy="285750"/>
          </a:xfrm>
          <a:prstGeom prst="rect">
            <a:avLst/>
          </a:prstGeom>
          <a:noFill/>
        </p:spPr>
        <p:txBody>
          <a:bodyPr wrap="none" lIns="0" tIns="0" rIns="0" bIns="0" anchor="t">
            <a:noAutofit/>
          </a:bodyPr>
          <a:lstStyle/>
          <a:p>
            <a:pPr marL="0" indent="0" algn="ctr">
              <a:buNone/>
            </a:pPr>
            <a:r>
              <a:rPr lang="en-US" sz="1800" b="1" dirty="0">
                <a:solidFill>
                  <a:srgbClr val="1A6E6F"/>
                </a:solidFill>
                <a:latin typeface="Arial"/>
                <a:cs typeface="Arial"/>
              </a:rPr>
              <a:t>SWITCH</a:t>
            </a:r>
            <a:endParaRPr lang="en-US" sz="1800" dirty="0"/>
          </a:p>
        </p:txBody>
      </p:sp>
      <p:sp>
        <p:nvSpPr>
          <p:cNvPr id="55" name="Rule"/>
          <p:cNvSpPr/>
          <p:nvPr/>
        </p:nvSpPr>
        <p:spPr>
          <a:xfrm>
            <a:off x="609600" y="14401800"/>
            <a:ext cx="10210800" cy="25400"/>
          </a:xfrm>
          <a:prstGeom prst="rect">
            <a:avLst/>
          </a:prstGeom>
          <a:solidFill>
            <a:srgbClr val="222222"/>
          </a:solidFill>
          <a:ln>
            <a:noFill/>
          </a:ln>
        </p:spPr>
      </p:sp>
      <p:sp>
        <p:nvSpPr>
          <p:cNvPr id="56" name="Matrix row PyTorch 2.14"/>
          <p:cNvSpPr txBox="1"/>
          <p:nvPr/>
        </p:nvSpPr>
        <p:spPr>
          <a:xfrm>
            <a:off x="736600" y="14617700"/>
            <a:ext cx="3556000" cy="365125"/>
          </a:xfrm>
          <a:prstGeom prst="rect">
            <a:avLst/>
          </a:prstGeom>
          <a:noFill/>
        </p:spPr>
        <p:txBody>
          <a:bodyPr wrap="none" lIns="0" tIns="0" rIns="0" bIns="0" anchor="t">
            <a:noAutofit/>
          </a:bodyPr>
          <a:lstStyle/>
          <a:p>
            <a:pPr marL="0" indent="0" algn="l">
              <a:buNone/>
            </a:pPr>
            <a:r>
              <a:rPr lang="en-US" sz="2300" b="0" dirty="0">
                <a:solidFill>
                  <a:srgbClr val="222222"/>
                </a:solidFill>
                <a:latin typeface="Arial"/>
                <a:cs typeface="Arial"/>
              </a:rPr>
              <a:t>PyTorch 2.14</a:t>
            </a:r>
            <a:endParaRPr lang="en-US" sz="2300" dirty="0"/>
          </a:p>
        </p:txBody>
      </p:sp>
      <p:sp>
        <p:nvSpPr>
          <p:cNvPr id="57" name="Tick"/>
          <p:cNvSpPr/>
          <p:nvPr/>
        </p:nvSpPr>
        <p:spPr>
          <a:xfrm>
            <a:off x="5151967" y="14566900"/>
            <a:ext cx="457200" cy="457200"/>
          </a:xfrm>
          <a:custGeom>
            <a:avLst/>
            <a:gdLst/>
            <a:ahLst/>
            <a:cxnLst/>
            <a:rect l="0" t="0" r="r" b="b"/>
            <a:pathLst>
              <a:path w="457200" h="457200" fill="none">
                <a:moveTo>
                  <a:pt x="45720" y="251460"/>
                </a:moveTo>
                <a:lnTo>
                  <a:pt x="182880" y="388620"/>
                </a:lnTo>
                <a:lnTo>
                  <a:pt x="420624" y="82296"/>
                </a:lnTo>
              </a:path>
            </a:pathLst>
          </a:custGeom>
          <a:noFill/>
          <a:ln w="68580" cap="rnd">
            <a:solidFill>
              <a:srgbClr val="2E7D32"/>
            </a:solidFill>
            <a:round/>
          </a:ln>
        </p:spPr>
      </p:sp>
      <p:sp>
        <p:nvSpPr>
          <p:cNvPr id="58" name="Tick"/>
          <p:cNvSpPr/>
          <p:nvPr/>
        </p:nvSpPr>
        <p:spPr>
          <a:xfrm>
            <a:off x="7327900" y="14566900"/>
            <a:ext cx="457200" cy="457200"/>
          </a:xfrm>
          <a:custGeom>
            <a:avLst/>
            <a:gdLst/>
            <a:ahLst/>
            <a:cxnLst/>
            <a:rect l="0" t="0" r="r" b="b"/>
            <a:pathLst>
              <a:path w="457200" h="457200" fill="none">
                <a:moveTo>
                  <a:pt x="45720" y="251460"/>
                </a:moveTo>
                <a:lnTo>
                  <a:pt x="182880" y="388620"/>
                </a:lnTo>
                <a:lnTo>
                  <a:pt x="420624" y="82296"/>
                </a:lnTo>
              </a:path>
            </a:pathLst>
          </a:custGeom>
          <a:noFill/>
          <a:ln w="68580" cap="rnd">
            <a:solidFill>
              <a:srgbClr val="2E7D32"/>
            </a:solidFill>
            <a:round/>
          </a:ln>
        </p:spPr>
      </p:sp>
      <p:sp>
        <p:nvSpPr>
          <p:cNvPr id="59" name="Tick"/>
          <p:cNvSpPr/>
          <p:nvPr/>
        </p:nvSpPr>
        <p:spPr>
          <a:xfrm>
            <a:off x="9503833" y="14566900"/>
            <a:ext cx="457200" cy="457200"/>
          </a:xfrm>
          <a:custGeom>
            <a:avLst/>
            <a:gdLst/>
            <a:ahLst/>
            <a:cxnLst/>
            <a:rect l="0" t="0" r="r" b="b"/>
            <a:pathLst>
              <a:path w="457200" h="457200" fill="none">
                <a:moveTo>
                  <a:pt x="45720" y="251460"/>
                </a:moveTo>
                <a:lnTo>
                  <a:pt x="182880" y="388620"/>
                </a:lnTo>
                <a:lnTo>
                  <a:pt x="420624" y="82296"/>
                </a:lnTo>
              </a:path>
            </a:pathLst>
          </a:custGeom>
          <a:noFill/>
          <a:ln w="68580" cap="rnd">
            <a:solidFill>
              <a:srgbClr val="2E7D32"/>
            </a:solidFill>
            <a:round/>
          </a:ln>
        </p:spPr>
      </p:sp>
      <p:sp>
        <p:nvSpPr>
          <p:cNvPr id="60" name="Matrix shade"/>
          <p:cNvSpPr/>
          <p:nvPr/>
        </p:nvSpPr>
        <p:spPr>
          <a:xfrm>
            <a:off x="609600" y="15163800"/>
            <a:ext cx="10210800" cy="736600"/>
          </a:xfrm>
          <a:prstGeom prst="rect">
            <a:avLst/>
          </a:prstGeom>
          <a:solidFill>
            <a:srgbClr val="F4F4F4"/>
          </a:solidFill>
          <a:ln>
            <a:noFill/>
          </a:ln>
        </p:spPr>
      </p:sp>
      <p:sp>
        <p:nvSpPr>
          <p:cNvPr id="61" name="Matrix row CUDA graph support"/>
          <p:cNvSpPr txBox="1"/>
          <p:nvPr/>
        </p:nvSpPr>
        <p:spPr>
          <a:xfrm>
            <a:off x="736600" y="15354300"/>
            <a:ext cx="3556000" cy="365125"/>
          </a:xfrm>
          <a:prstGeom prst="rect">
            <a:avLst/>
          </a:prstGeom>
          <a:noFill/>
        </p:spPr>
        <p:txBody>
          <a:bodyPr wrap="none" lIns="0" tIns="0" rIns="0" bIns="0" anchor="t">
            <a:noAutofit/>
          </a:bodyPr>
          <a:lstStyle/>
          <a:p>
            <a:pPr marL="0" indent="0" algn="l">
              <a:buNone/>
            </a:pPr>
            <a:r>
              <a:rPr lang="en-US" sz="2300" b="0" dirty="0">
                <a:solidFill>
                  <a:srgbClr val="222222"/>
                </a:solidFill>
                <a:latin typeface="Arial"/>
                <a:cs typeface="Arial"/>
              </a:rPr>
              <a:t>CUDA graph support</a:t>
            </a:r>
            <a:endParaRPr lang="en-US" sz="2300" dirty="0"/>
          </a:p>
        </p:txBody>
      </p:sp>
      <p:sp>
        <p:nvSpPr>
          <p:cNvPr id="62" name="Tick"/>
          <p:cNvSpPr/>
          <p:nvPr/>
        </p:nvSpPr>
        <p:spPr>
          <a:xfrm>
            <a:off x="5151967" y="15303500"/>
            <a:ext cx="457200" cy="457200"/>
          </a:xfrm>
          <a:custGeom>
            <a:avLst/>
            <a:gdLst/>
            <a:ahLst/>
            <a:cxnLst/>
            <a:rect l="0" t="0" r="r" b="b"/>
            <a:pathLst>
              <a:path w="457200" h="457200" fill="none">
                <a:moveTo>
                  <a:pt x="45720" y="251460"/>
                </a:moveTo>
                <a:lnTo>
                  <a:pt x="182880" y="388620"/>
                </a:lnTo>
                <a:lnTo>
                  <a:pt x="420624" y="82296"/>
                </a:lnTo>
              </a:path>
            </a:pathLst>
          </a:custGeom>
          <a:noFill/>
          <a:ln w="68580" cap="rnd">
            <a:solidFill>
              <a:srgbClr val="2E7D32"/>
            </a:solidFill>
            <a:round/>
          </a:ln>
        </p:spPr>
      </p:sp>
      <p:sp>
        <p:nvSpPr>
          <p:cNvPr id="63" name="Tick"/>
          <p:cNvSpPr/>
          <p:nvPr/>
        </p:nvSpPr>
        <p:spPr>
          <a:xfrm>
            <a:off x="7327900" y="15303500"/>
            <a:ext cx="457200" cy="457200"/>
          </a:xfrm>
          <a:custGeom>
            <a:avLst/>
            <a:gdLst/>
            <a:ahLst/>
            <a:cxnLst/>
            <a:rect l="0" t="0" r="r" b="b"/>
            <a:pathLst>
              <a:path w="457200" h="457200" fill="none">
                <a:moveTo>
                  <a:pt x="45720" y="251460"/>
                </a:moveTo>
                <a:lnTo>
                  <a:pt x="182880" y="388620"/>
                </a:lnTo>
                <a:lnTo>
                  <a:pt x="420624" y="82296"/>
                </a:lnTo>
              </a:path>
            </a:pathLst>
          </a:custGeom>
          <a:noFill/>
          <a:ln w="68580" cap="rnd">
            <a:solidFill>
              <a:srgbClr val="2E7D32"/>
            </a:solidFill>
            <a:round/>
          </a:ln>
        </p:spPr>
      </p:sp>
      <p:sp>
        <p:nvSpPr>
          <p:cNvPr id="64" name="Barrier leg"/>
          <p:cNvSpPr/>
          <p:nvPr/>
        </p:nvSpPr>
        <p:spPr>
          <a:xfrm>
            <a:off x="9538987" y="15570962"/>
            <a:ext cx="43180" cy="138176"/>
          </a:xfrm>
          <a:prstGeom prst="rect">
            <a:avLst/>
          </a:prstGeom>
          <a:solidFill>
            <a:srgbClr val="3A3A3A"/>
          </a:solidFill>
          <a:ln>
            <a:noFill/>
          </a:ln>
        </p:spPr>
      </p:sp>
      <p:sp>
        <p:nvSpPr>
          <p:cNvPr id="65" name="Barrier leg"/>
          <p:cNvSpPr/>
          <p:nvPr/>
        </p:nvSpPr>
        <p:spPr>
          <a:xfrm>
            <a:off x="9882700" y="15570962"/>
            <a:ext cx="43180" cy="138176"/>
          </a:xfrm>
          <a:prstGeom prst="rect">
            <a:avLst/>
          </a:prstGeom>
          <a:solidFill>
            <a:srgbClr val="3A3A3A"/>
          </a:solidFill>
          <a:ln>
            <a:noFill/>
          </a:ln>
        </p:spPr>
      </p:sp>
      <p:sp>
        <p:nvSpPr>
          <p:cNvPr id="66" name="Barrier board"/>
          <p:cNvSpPr/>
          <p:nvPr/>
        </p:nvSpPr>
        <p:spPr>
          <a:xfrm>
            <a:off x="9430173" y="15355062"/>
            <a:ext cx="604520" cy="215900"/>
          </a:xfrm>
          <a:prstGeom prst="rect">
            <a:avLst/>
          </a:prstGeom>
          <a:solidFill>
            <a:srgbClr val="FFFFFF"/>
          </a:solidFill>
          <a:ln>
            <a:noFill/>
          </a:ln>
        </p:spPr>
      </p:sp>
      <p:sp>
        <p:nvSpPr>
          <p:cNvPr id="67" name="Barrier stripes"/>
          <p:cNvSpPr/>
          <p:nvPr/>
        </p:nvSpPr>
        <p:spPr>
          <a:xfrm>
            <a:off x="9430173" y="15355062"/>
            <a:ext cx="604520" cy="215900"/>
          </a:xfrm>
          <a:custGeom>
            <a:avLst/>
            <a:gdLst/>
            <a:ahLst/>
            <a:cxnLst/>
            <a:rect l="0" t="0" r="r" b="b"/>
            <a:pathLst>
              <a:path w="604520" h="215900">
                <a:moveTo>
                  <a:pt x="0" y="0"/>
                </a:moveTo>
                <a:lnTo>
                  <a:pt x="100753" y="0"/>
                </a:lnTo>
                <a:lnTo>
                  <a:pt x="0" y="100753"/>
                </a:lnTo>
                <a:close/>
              </a:path>
              <a:path w="604520" h="215900">
                <a:moveTo>
                  <a:pt x="201507" y="0"/>
                </a:moveTo>
                <a:lnTo>
                  <a:pt x="302260" y="0"/>
                </a:lnTo>
                <a:lnTo>
                  <a:pt x="86360" y="215900"/>
                </a:lnTo>
                <a:lnTo>
                  <a:pt x="0" y="215900"/>
                </a:lnTo>
                <a:lnTo>
                  <a:pt x="0" y="201507"/>
                </a:lnTo>
                <a:close/>
              </a:path>
              <a:path w="604520" h="215900">
                <a:moveTo>
                  <a:pt x="403013" y="0"/>
                </a:moveTo>
                <a:lnTo>
                  <a:pt x="503767" y="0"/>
                </a:lnTo>
                <a:lnTo>
                  <a:pt x="287867" y="215900"/>
                </a:lnTo>
                <a:lnTo>
                  <a:pt x="187113" y="215900"/>
                </a:lnTo>
                <a:close/>
              </a:path>
              <a:path w="604520" h="215900">
                <a:moveTo>
                  <a:pt x="604520" y="0"/>
                </a:moveTo>
                <a:lnTo>
                  <a:pt x="604520" y="100753"/>
                </a:lnTo>
                <a:lnTo>
                  <a:pt x="489373" y="215900"/>
                </a:lnTo>
                <a:lnTo>
                  <a:pt x="388620" y="215900"/>
                </a:lnTo>
                <a:close/>
              </a:path>
              <a:path w="604520" h="215900">
                <a:moveTo>
                  <a:pt x="604520" y="201507"/>
                </a:moveTo>
                <a:lnTo>
                  <a:pt x="604520" y="215900"/>
                </a:lnTo>
                <a:lnTo>
                  <a:pt x="590127" y="215900"/>
                </a:lnTo>
                <a:close/>
              </a:path>
            </a:pathLst>
          </a:custGeom>
          <a:solidFill>
            <a:srgbClr val="E8710A"/>
          </a:solidFill>
          <a:ln>
            <a:noFill/>
          </a:ln>
        </p:spPr>
      </p:sp>
      <p:sp>
        <p:nvSpPr>
          <p:cNvPr id="68" name="Barrier outline"/>
          <p:cNvSpPr/>
          <p:nvPr/>
        </p:nvSpPr>
        <p:spPr>
          <a:xfrm>
            <a:off x="9430173" y="15355062"/>
            <a:ext cx="604520" cy="215900"/>
          </a:xfrm>
          <a:custGeom>
            <a:avLst/>
            <a:gdLst/>
            <a:ahLst/>
            <a:cxnLst/>
            <a:rect l="0" t="0" r="r" b="b"/>
            <a:pathLst>
              <a:path w="604520" h="215900" fill="none">
                <a:moveTo>
                  <a:pt x="0" y="0"/>
                </a:moveTo>
                <a:lnTo>
                  <a:pt x="604520" y="0"/>
                </a:lnTo>
                <a:lnTo>
                  <a:pt x="604520" y="215900"/>
                </a:lnTo>
                <a:lnTo>
                  <a:pt x="0" y="215900"/>
                </a:lnTo>
                <a:close/>
              </a:path>
            </a:pathLst>
          </a:custGeom>
          <a:noFill/>
          <a:ln w="19050" cap="rnd">
            <a:solidFill>
              <a:srgbClr val="3A3A3A"/>
            </a:solidFill>
            <a:round/>
          </a:ln>
        </p:spPr>
      </p:sp>
      <p:sp>
        <p:nvSpPr>
          <p:cNvPr id="69" name="Matrix row In-place input mutation*"/>
          <p:cNvSpPr txBox="1"/>
          <p:nvPr/>
        </p:nvSpPr>
        <p:spPr>
          <a:xfrm>
            <a:off x="736600" y="16090900"/>
            <a:ext cx="3556000" cy="365125"/>
          </a:xfrm>
          <a:prstGeom prst="rect">
            <a:avLst/>
          </a:prstGeom>
          <a:noFill/>
        </p:spPr>
        <p:txBody>
          <a:bodyPr wrap="none" lIns="0" tIns="0" rIns="0" bIns="0" anchor="t">
            <a:noAutofit/>
          </a:bodyPr>
          <a:lstStyle/>
          <a:p>
            <a:pPr marL="0" indent="0" algn="l">
              <a:buNone/>
            </a:pPr>
            <a:r>
              <a:rPr lang="en-US" sz="2300" b="0" dirty="0">
                <a:solidFill>
                  <a:srgbClr val="222222"/>
                </a:solidFill>
                <a:latin typeface="Arial"/>
                <a:cs typeface="Arial"/>
              </a:rPr>
              <a:t>In-place input mutation*</a:t>
            </a:r>
            <a:endParaRPr lang="en-US" sz="2300" dirty="0"/>
          </a:p>
        </p:txBody>
      </p:sp>
      <p:sp>
        <p:nvSpPr>
          <p:cNvPr id="70" name="Tick"/>
          <p:cNvSpPr/>
          <p:nvPr/>
        </p:nvSpPr>
        <p:spPr>
          <a:xfrm>
            <a:off x="5151967" y="16040100"/>
            <a:ext cx="457200" cy="457200"/>
          </a:xfrm>
          <a:custGeom>
            <a:avLst/>
            <a:gdLst/>
            <a:ahLst/>
            <a:cxnLst/>
            <a:rect l="0" t="0" r="r" b="b"/>
            <a:pathLst>
              <a:path w="457200" h="457200" fill="none">
                <a:moveTo>
                  <a:pt x="45720" y="251460"/>
                </a:moveTo>
                <a:lnTo>
                  <a:pt x="182880" y="388620"/>
                </a:lnTo>
                <a:lnTo>
                  <a:pt x="420624" y="82296"/>
                </a:lnTo>
              </a:path>
            </a:pathLst>
          </a:custGeom>
          <a:noFill/>
          <a:ln w="68580" cap="rnd">
            <a:solidFill>
              <a:srgbClr val="2E7D32"/>
            </a:solidFill>
            <a:round/>
          </a:ln>
        </p:spPr>
      </p:sp>
      <p:sp>
        <p:nvSpPr>
          <p:cNvPr id="71" name="Tick"/>
          <p:cNvSpPr/>
          <p:nvPr/>
        </p:nvSpPr>
        <p:spPr>
          <a:xfrm>
            <a:off x="7327900" y="16040100"/>
            <a:ext cx="457200" cy="457200"/>
          </a:xfrm>
          <a:custGeom>
            <a:avLst/>
            <a:gdLst/>
            <a:ahLst/>
            <a:cxnLst/>
            <a:rect l="0" t="0" r="r" b="b"/>
            <a:pathLst>
              <a:path w="457200" h="457200" fill="none">
                <a:moveTo>
                  <a:pt x="45720" y="251460"/>
                </a:moveTo>
                <a:lnTo>
                  <a:pt x="182880" y="388620"/>
                </a:lnTo>
                <a:lnTo>
                  <a:pt x="420624" y="82296"/>
                </a:lnTo>
              </a:path>
            </a:pathLst>
          </a:custGeom>
          <a:noFill/>
          <a:ln w="68580" cap="rnd">
            <a:solidFill>
              <a:srgbClr val="2E7D32"/>
            </a:solidFill>
            <a:round/>
          </a:ln>
        </p:spPr>
      </p:sp>
      <p:sp>
        <p:nvSpPr>
          <p:cNvPr id="72" name="Barrier leg"/>
          <p:cNvSpPr/>
          <p:nvPr/>
        </p:nvSpPr>
        <p:spPr>
          <a:xfrm>
            <a:off x="9538987" y="16307562"/>
            <a:ext cx="43180" cy="138176"/>
          </a:xfrm>
          <a:prstGeom prst="rect">
            <a:avLst/>
          </a:prstGeom>
          <a:solidFill>
            <a:srgbClr val="3A3A3A"/>
          </a:solidFill>
          <a:ln>
            <a:noFill/>
          </a:ln>
        </p:spPr>
      </p:sp>
      <p:sp>
        <p:nvSpPr>
          <p:cNvPr id="73" name="Barrier leg"/>
          <p:cNvSpPr/>
          <p:nvPr/>
        </p:nvSpPr>
        <p:spPr>
          <a:xfrm>
            <a:off x="9882700" y="16307562"/>
            <a:ext cx="43180" cy="138176"/>
          </a:xfrm>
          <a:prstGeom prst="rect">
            <a:avLst/>
          </a:prstGeom>
          <a:solidFill>
            <a:srgbClr val="3A3A3A"/>
          </a:solidFill>
          <a:ln>
            <a:noFill/>
          </a:ln>
        </p:spPr>
      </p:sp>
      <p:sp>
        <p:nvSpPr>
          <p:cNvPr id="74" name="Barrier board"/>
          <p:cNvSpPr/>
          <p:nvPr/>
        </p:nvSpPr>
        <p:spPr>
          <a:xfrm>
            <a:off x="9430173" y="16091662"/>
            <a:ext cx="604520" cy="215900"/>
          </a:xfrm>
          <a:prstGeom prst="rect">
            <a:avLst/>
          </a:prstGeom>
          <a:solidFill>
            <a:srgbClr val="FFFFFF"/>
          </a:solidFill>
          <a:ln>
            <a:noFill/>
          </a:ln>
        </p:spPr>
      </p:sp>
      <p:sp>
        <p:nvSpPr>
          <p:cNvPr id="75" name="Barrier stripes"/>
          <p:cNvSpPr/>
          <p:nvPr/>
        </p:nvSpPr>
        <p:spPr>
          <a:xfrm>
            <a:off x="9430173" y="16091662"/>
            <a:ext cx="604520" cy="215900"/>
          </a:xfrm>
          <a:custGeom>
            <a:avLst/>
            <a:gdLst/>
            <a:ahLst/>
            <a:cxnLst/>
            <a:rect l="0" t="0" r="r" b="b"/>
            <a:pathLst>
              <a:path w="604520" h="215900">
                <a:moveTo>
                  <a:pt x="0" y="0"/>
                </a:moveTo>
                <a:lnTo>
                  <a:pt x="100753" y="0"/>
                </a:lnTo>
                <a:lnTo>
                  <a:pt x="0" y="100753"/>
                </a:lnTo>
                <a:close/>
              </a:path>
              <a:path w="604520" h="215900">
                <a:moveTo>
                  <a:pt x="201507" y="0"/>
                </a:moveTo>
                <a:lnTo>
                  <a:pt x="302260" y="0"/>
                </a:lnTo>
                <a:lnTo>
                  <a:pt x="86360" y="215900"/>
                </a:lnTo>
                <a:lnTo>
                  <a:pt x="0" y="215900"/>
                </a:lnTo>
                <a:lnTo>
                  <a:pt x="0" y="201507"/>
                </a:lnTo>
                <a:close/>
              </a:path>
              <a:path w="604520" h="215900">
                <a:moveTo>
                  <a:pt x="403013" y="0"/>
                </a:moveTo>
                <a:lnTo>
                  <a:pt x="503767" y="0"/>
                </a:lnTo>
                <a:lnTo>
                  <a:pt x="287867" y="215900"/>
                </a:lnTo>
                <a:lnTo>
                  <a:pt x="187113" y="215900"/>
                </a:lnTo>
                <a:close/>
              </a:path>
              <a:path w="604520" h="215900">
                <a:moveTo>
                  <a:pt x="604520" y="0"/>
                </a:moveTo>
                <a:lnTo>
                  <a:pt x="604520" y="100753"/>
                </a:lnTo>
                <a:lnTo>
                  <a:pt x="489373" y="215900"/>
                </a:lnTo>
                <a:lnTo>
                  <a:pt x="388620" y="215900"/>
                </a:lnTo>
                <a:close/>
              </a:path>
              <a:path w="604520" h="215900">
                <a:moveTo>
                  <a:pt x="604520" y="201507"/>
                </a:moveTo>
                <a:lnTo>
                  <a:pt x="604520" y="215900"/>
                </a:lnTo>
                <a:lnTo>
                  <a:pt x="590127" y="215900"/>
                </a:lnTo>
                <a:close/>
              </a:path>
            </a:pathLst>
          </a:custGeom>
          <a:solidFill>
            <a:srgbClr val="E8710A"/>
          </a:solidFill>
          <a:ln>
            <a:noFill/>
          </a:ln>
        </p:spPr>
      </p:sp>
      <p:sp>
        <p:nvSpPr>
          <p:cNvPr id="76" name="Barrier outline"/>
          <p:cNvSpPr/>
          <p:nvPr/>
        </p:nvSpPr>
        <p:spPr>
          <a:xfrm>
            <a:off x="9430173" y="16091662"/>
            <a:ext cx="604520" cy="215900"/>
          </a:xfrm>
          <a:custGeom>
            <a:avLst/>
            <a:gdLst/>
            <a:ahLst/>
            <a:cxnLst/>
            <a:rect l="0" t="0" r="r" b="b"/>
            <a:pathLst>
              <a:path w="604520" h="215900" fill="none">
                <a:moveTo>
                  <a:pt x="0" y="0"/>
                </a:moveTo>
                <a:lnTo>
                  <a:pt x="604520" y="0"/>
                </a:lnTo>
                <a:lnTo>
                  <a:pt x="604520" y="215900"/>
                </a:lnTo>
                <a:lnTo>
                  <a:pt x="0" y="215900"/>
                </a:lnTo>
                <a:close/>
              </a:path>
            </a:pathLst>
          </a:custGeom>
          <a:noFill/>
          <a:ln w="19050" cap="rnd">
            <a:solidFill>
              <a:srgbClr val="3A3A3A"/>
            </a:solidFill>
            <a:round/>
          </a:ln>
        </p:spPr>
      </p:sp>
      <p:sp>
        <p:nvSpPr>
          <p:cNvPr id="77" name="Matrix shade"/>
          <p:cNvSpPr/>
          <p:nvPr/>
        </p:nvSpPr>
        <p:spPr>
          <a:xfrm>
            <a:off x="609600" y="16637000"/>
            <a:ext cx="10210800" cy="736600"/>
          </a:xfrm>
          <a:prstGeom prst="rect">
            <a:avLst/>
          </a:prstGeom>
          <a:solidFill>
            <a:srgbClr val="F4F4F4"/>
          </a:solidFill>
          <a:ln>
            <a:noFill/>
          </a:ln>
        </p:spPr>
      </p:sp>
      <p:sp>
        <p:nvSpPr>
          <p:cNvPr id="78" name="Matrix row Minimum CUDA"/>
          <p:cNvSpPr txBox="1"/>
          <p:nvPr/>
        </p:nvSpPr>
        <p:spPr>
          <a:xfrm>
            <a:off x="736600" y="16827500"/>
            <a:ext cx="3556000" cy="365125"/>
          </a:xfrm>
          <a:prstGeom prst="rect">
            <a:avLst/>
          </a:prstGeom>
          <a:noFill/>
        </p:spPr>
        <p:txBody>
          <a:bodyPr wrap="none" lIns="0" tIns="0" rIns="0" bIns="0" anchor="t">
            <a:noAutofit/>
          </a:bodyPr>
          <a:lstStyle/>
          <a:p>
            <a:pPr marL="0" indent="0" algn="l">
              <a:buNone/>
            </a:pPr>
            <a:r>
              <a:rPr lang="en-US" sz="2300" b="0" dirty="0">
                <a:solidFill>
                  <a:srgbClr val="222222"/>
                </a:solidFill>
                <a:latin typeface="Arial"/>
                <a:cs typeface="Arial"/>
              </a:rPr>
              <a:t>Minimum CUDA</a:t>
            </a:r>
            <a:endParaRPr lang="en-US" sz="2300" dirty="0"/>
          </a:p>
        </p:txBody>
      </p:sp>
      <p:sp>
        <p:nvSpPr>
          <p:cNvPr id="79" name="Matrix cell Minimum CUDA 0"/>
          <p:cNvSpPr txBox="1"/>
          <p:nvPr/>
        </p:nvSpPr>
        <p:spPr>
          <a:xfrm>
            <a:off x="4292600" y="16827500"/>
            <a:ext cx="2175933" cy="365125"/>
          </a:xfrm>
          <a:prstGeom prst="rect">
            <a:avLst/>
          </a:prstGeom>
          <a:noFill/>
        </p:spPr>
        <p:txBody>
          <a:bodyPr wrap="none" lIns="0" tIns="0" rIns="0" bIns="0" anchor="t">
            <a:noAutofit/>
          </a:bodyPr>
          <a:lstStyle/>
          <a:p>
            <a:pPr marL="0" indent="0" algn="ctr">
              <a:buNone/>
            </a:pPr>
            <a:r>
              <a:rPr lang="en-US" sz="2300" b="1" dirty="0">
                <a:solidFill>
                  <a:srgbClr val="222222"/>
                </a:solidFill>
                <a:latin typeface="Arial"/>
                <a:cs typeface="Arial"/>
              </a:rPr>
              <a:t>12.4</a:t>
            </a:r>
            <a:endParaRPr lang="en-US" sz="2300" dirty="0"/>
          </a:p>
        </p:txBody>
      </p:sp>
      <p:sp>
        <p:nvSpPr>
          <p:cNvPr id="80" name="Matrix cell Minimum CUDA 1"/>
          <p:cNvSpPr txBox="1"/>
          <p:nvPr/>
        </p:nvSpPr>
        <p:spPr>
          <a:xfrm>
            <a:off x="6468533" y="16827500"/>
            <a:ext cx="2175933" cy="365125"/>
          </a:xfrm>
          <a:prstGeom prst="rect">
            <a:avLst/>
          </a:prstGeom>
          <a:noFill/>
        </p:spPr>
        <p:txBody>
          <a:bodyPr wrap="none" lIns="0" tIns="0" rIns="0" bIns="0" anchor="t">
            <a:noAutofit/>
          </a:bodyPr>
          <a:lstStyle/>
          <a:p>
            <a:pPr marL="0" indent="0" algn="ctr">
              <a:buNone/>
            </a:pPr>
            <a:r>
              <a:rPr lang="en-US" sz="2300" b="1" dirty="0">
                <a:solidFill>
                  <a:srgbClr val="222222"/>
                </a:solidFill>
                <a:latin typeface="Arial"/>
                <a:cs typeface="Arial"/>
              </a:rPr>
              <a:t>12.4</a:t>
            </a:r>
            <a:endParaRPr lang="en-US" sz="2300" dirty="0"/>
          </a:p>
        </p:txBody>
      </p:sp>
      <p:sp>
        <p:nvSpPr>
          <p:cNvPr id="81" name="Matrix cell Minimum CUDA 2"/>
          <p:cNvSpPr txBox="1"/>
          <p:nvPr/>
        </p:nvSpPr>
        <p:spPr>
          <a:xfrm>
            <a:off x="8644467" y="16827500"/>
            <a:ext cx="2175933" cy="365125"/>
          </a:xfrm>
          <a:prstGeom prst="rect">
            <a:avLst/>
          </a:prstGeom>
          <a:noFill/>
        </p:spPr>
        <p:txBody>
          <a:bodyPr wrap="none" lIns="0" tIns="0" rIns="0" bIns="0" anchor="t">
            <a:noAutofit/>
          </a:bodyPr>
          <a:lstStyle/>
          <a:p>
            <a:pPr marL="0" indent="0" algn="ctr">
              <a:buNone/>
            </a:pPr>
            <a:r>
              <a:rPr lang="en-US" sz="2300" b="1" dirty="0">
                <a:solidFill>
                  <a:srgbClr val="222222"/>
                </a:solidFill>
                <a:latin typeface="Arial"/>
                <a:cs typeface="Arial"/>
              </a:rPr>
              <a:t>12.8</a:t>
            </a:r>
            <a:endParaRPr lang="en-US" sz="2300" dirty="0"/>
          </a:p>
        </p:txBody>
      </p:sp>
      <p:sp>
        <p:nvSpPr>
          <p:cNvPr id="82" name="Matrix row Inductor backend"/>
          <p:cNvSpPr txBox="1"/>
          <p:nvPr/>
        </p:nvSpPr>
        <p:spPr>
          <a:xfrm>
            <a:off x="736600" y="17564100"/>
            <a:ext cx="3556000" cy="365125"/>
          </a:xfrm>
          <a:prstGeom prst="rect">
            <a:avLst/>
          </a:prstGeom>
          <a:noFill/>
        </p:spPr>
        <p:txBody>
          <a:bodyPr wrap="none" lIns="0" tIns="0" rIns="0" bIns="0" anchor="t">
            <a:noAutofit/>
          </a:bodyPr>
          <a:lstStyle/>
          <a:p>
            <a:pPr marL="0" indent="0" algn="l">
              <a:buNone/>
            </a:pPr>
            <a:r>
              <a:rPr lang="en-US" sz="2300" b="0" dirty="0">
                <a:solidFill>
                  <a:srgbClr val="222222"/>
                </a:solidFill>
                <a:latin typeface="Arial"/>
                <a:cs typeface="Arial"/>
              </a:rPr>
              <a:t>Inductor backend</a:t>
            </a:r>
            <a:endParaRPr lang="en-US" sz="2300" dirty="0"/>
          </a:p>
        </p:txBody>
      </p:sp>
      <p:sp>
        <p:nvSpPr>
          <p:cNvPr id="83" name="Unsupported X"/>
          <p:cNvSpPr/>
          <p:nvPr/>
        </p:nvSpPr>
        <p:spPr>
          <a:xfrm>
            <a:off x="5151967" y="17513300"/>
            <a:ext cx="457200" cy="457200"/>
          </a:xfrm>
          <a:custGeom>
            <a:avLst/>
            <a:gdLst/>
            <a:ahLst/>
            <a:cxnLst/>
            <a:rect l="0" t="0" r="r" b="b"/>
            <a:pathLst>
              <a:path w="457200" h="457200" fill="none">
                <a:moveTo>
                  <a:pt x="91440" y="91440"/>
                </a:moveTo>
                <a:lnTo>
                  <a:pt x="365760" y="365760"/>
                </a:lnTo>
              </a:path>
              <a:path w="457200" h="457200" fill="none">
                <a:moveTo>
                  <a:pt x="91440" y="365760"/>
                </a:moveTo>
                <a:lnTo>
                  <a:pt x="365760" y="91440"/>
                </a:lnTo>
              </a:path>
            </a:pathLst>
          </a:custGeom>
          <a:noFill/>
          <a:ln w="68580" cap="rnd">
            <a:solidFill>
              <a:srgbClr val="C62828"/>
            </a:solidFill>
            <a:round/>
          </a:ln>
        </p:spPr>
      </p:sp>
      <p:sp>
        <p:nvSpPr>
          <p:cNvPr id="84" name="Unsupported X"/>
          <p:cNvSpPr/>
          <p:nvPr/>
        </p:nvSpPr>
        <p:spPr>
          <a:xfrm>
            <a:off x="7327900" y="17513300"/>
            <a:ext cx="457200" cy="457200"/>
          </a:xfrm>
          <a:custGeom>
            <a:avLst/>
            <a:gdLst/>
            <a:ahLst/>
            <a:cxnLst/>
            <a:rect l="0" t="0" r="r" b="b"/>
            <a:pathLst>
              <a:path w="457200" h="457200" fill="none">
                <a:moveTo>
                  <a:pt x="91440" y="91440"/>
                </a:moveTo>
                <a:lnTo>
                  <a:pt x="365760" y="365760"/>
                </a:lnTo>
              </a:path>
              <a:path w="457200" h="457200" fill="none">
                <a:moveTo>
                  <a:pt x="91440" y="365760"/>
                </a:moveTo>
                <a:lnTo>
                  <a:pt x="365760" y="91440"/>
                </a:lnTo>
              </a:path>
            </a:pathLst>
          </a:custGeom>
          <a:noFill/>
          <a:ln w="68580" cap="rnd">
            <a:solidFill>
              <a:srgbClr val="C62828"/>
            </a:solidFill>
            <a:round/>
          </a:ln>
        </p:spPr>
      </p:sp>
      <p:sp>
        <p:nvSpPr>
          <p:cNvPr id="85" name="Unsupported X"/>
          <p:cNvSpPr/>
          <p:nvPr/>
        </p:nvSpPr>
        <p:spPr>
          <a:xfrm>
            <a:off x="9503833" y="17513300"/>
            <a:ext cx="457200" cy="457200"/>
          </a:xfrm>
          <a:custGeom>
            <a:avLst/>
            <a:gdLst/>
            <a:ahLst/>
            <a:cxnLst/>
            <a:rect l="0" t="0" r="r" b="b"/>
            <a:pathLst>
              <a:path w="457200" h="457200" fill="none">
                <a:moveTo>
                  <a:pt x="91440" y="91440"/>
                </a:moveTo>
                <a:lnTo>
                  <a:pt x="365760" y="365760"/>
                </a:lnTo>
              </a:path>
              <a:path w="457200" h="457200" fill="none">
                <a:moveTo>
                  <a:pt x="91440" y="365760"/>
                </a:moveTo>
                <a:lnTo>
                  <a:pt x="365760" y="91440"/>
                </a:lnTo>
              </a:path>
            </a:pathLst>
          </a:custGeom>
          <a:noFill/>
          <a:ln w="68580" cap="rnd">
            <a:solidFill>
              <a:srgbClr val="C62828"/>
            </a:solidFill>
            <a:round/>
          </a:ln>
        </p:spPr>
      </p:sp>
      <p:sp>
        <p:nvSpPr>
          <p:cNvPr id="86" name="Rule"/>
          <p:cNvSpPr/>
          <p:nvPr/>
        </p:nvSpPr>
        <p:spPr>
          <a:xfrm>
            <a:off x="609600" y="18110200"/>
            <a:ext cx="10210800" cy="19050"/>
          </a:xfrm>
          <a:prstGeom prst="rect">
            <a:avLst/>
          </a:prstGeom>
          <a:solidFill>
            <a:srgbClr val="222222"/>
          </a:solidFill>
          <a:ln>
            <a:noFill/>
          </a:ln>
        </p:spPr>
      </p:sp>
      <p:sp>
        <p:nvSpPr>
          <p:cNvPr id="87" name="Tick"/>
          <p:cNvSpPr/>
          <p:nvPr/>
        </p:nvSpPr>
        <p:spPr>
          <a:xfrm>
            <a:off x="673100" y="18376900"/>
            <a:ext cx="330200" cy="330200"/>
          </a:xfrm>
          <a:custGeom>
            <a:avLst/>
            <a:gdLst/>
            <a:ahLst/>
            <a:cxnLst/>
            <a:rect l="0" t="0" r="r" b="b"/>
            <a:pathLst>
              <a:path w="330200" h="330200" fill="none">
                <a:moveTo>
                  <a:pt x="33020" y="181610"/>
                </a:moveTo>
                <a:lnTo>
                  <a:pt x="132080" y="280670"/>
                </a:lnTo>
                <a:lnTo>
                  <a:pt x="303784" y="59436"/>
                </a:lnTo>
              </a:path>
            </a:pathLst>
          </a:custGeom>
          <a:noFill/>
          <a:ln w="49530" cap="rnd">
            <a:solidFill>
              <a:srgbClr val="2E7D32"/>
            </a:solidFill>
            <a:round/>
          </a:ln>
        </p:spPr>
      </p:sp>
      <p:sp>
        <p:nvSpPr>
          <p:cNvPr id="88" name="Legend done"/>
          <p:cNvSpPr txBox="1"/>
          <p:nvPr/>
        </p:nvSpPr>
        <p:spPr>
          <a:xfrm>
            <a:off x="1143000" y="18389600"/>
            <a:ext cx="3302000" cy="317500"/>
          </a:xfrm>
          <a:prstGeom prst="rect">
            <a:avLst/>
          </a:prstGeom>
          <a:noFill/>
        </p:spPr>
        <p:txBody>
          <a:bodyPr wrap="none" lIns="0" tIns="0" rIns="0" bIns="0" anchor="t">
            <a:noAutofit/>
          </a:bodyPr>
          <a:lstStyle/>
          <a:p>
            <a:pPr marL="0" indent="0" algn="l">
              <a:buNone/>
            </a:pPr>
            <a:r>
              <a:rPr lang="en-US" sz="2000" b="0" dirty="0">
                <a:solidFill>
                  <a:srgbClr val="222222"/>
                </a:solidFill>
                <a:latin typeface="Arial"/>
                <a:cs typeface="Arial"/>
              </a:rPr>
              <a:t>supported in PyTorch 2.14</a:t>
            </a:r>
            <a:endParaRPr lang="en-US" sz="2000" dirty="0"/>
          </a:p>
        </p:txBody>
      </p:sp>
      <p:sp>
        <p:nvSpPr>
          <p:cNvPr id="89" name="Barrier leg"/>
          <p:cNvSpPr/>
          <p:nvPr/>
        </p:nvSpPr>
        <p:spPr>
          <a:xfrm>
            <a:off x="4754270" y="18571718"/>
            <a:ext cx="33020" cy="105664"/>
          </a:xfrm>
          <a:prstGeom prst="rect">
            <a:avLst/>
          </a:prstGeom>
          <a:solidFill>
            <a:srgbClr val="3A3A3A"/>
          </a:solidFill>
          <a:ln>
            <a:noFill/>
          </a:ln>
        </p:spPr>
      </p:sp>
      <p:sp>
        <p:nvSpPr>
          <p:cNvPr id="90" name="Barrier leg"/>
          <p:cNvSpPr/>
          <p:nvPr/>
        </p:nvSpPr>
        <p:spPr>
          <a:xfrm>
            <a:off x="5017110" y="18571718"/>
            <a:ext cx="33020" cy="105664"/>
          </a:xfrm>
          <a:prstGeom prst="rect">
            <a:avLst/>
          </a:prstGeom>
          <a:solidFill>
            <a:srgbClr val="3A3A3A"/>
          </a:solidFill>
          <a:ln>
            <a:noFill/>
          </a:ln>
        </p:spPr>
      </p:sp>
      <p:sp>
        <p:nvSpPr>
          <p:cNvPr id="91" name="Barrier board"/>
          <p:cNvSpPr/>
          <p:nvPr/>
        </p:nvSpPr>
        <p:spPr>
          <a:xfrm>
            <a:off x="4671060" y="18406618"/>
            <a:ext cx="462280" cy="165100"/>
          </a:xfrm>
          <a:prstGeom prst="rect">
            <a:avLst/>
          </a:prstGeom>
          <a:solidFill>
            <a:srgbClr val="FFFFFF"/>
          </a:solidFill>
          <a:ln>
            <a:noFill/>
          </a:ln>
        </p:spPr>
      </p:sp>
      <p:sp>
        <p:nvSpPr>
          <p:cNvPr id="92" name="Barrier stripes"/>
          <p:cNvSpPr/>
          <p:nvPr/>
        </p:nvSpPr>
        <p:spPr>
          <a:xfrm>
            <a:off x="4671060" y="18406618"/>
            <a:ext cx="462280" cy="165100"/>
          </a:xfrm>
          <a:custGeom>
            <a:avLst/>
            <a:gdLst/>
            <a:ahLst/>
            <a:cxnLst/>
            <a:rect l="0" t="0" r="r" b="b"/>
            <a:pathLst>
              <a:path w="462280" h="165100">
                <a:moveTo>
                  <a:pt x="0" y="0"/>
                </a:moveTo>
                <a:lnTo>
                  <a:pt x="77047" y="0"/>
                </a:lnTo>
                <a:lnTo>
                  <a:pt x="0" y="77047"/>
                </a:lnTo>
                <a:close/>
              </a:path>
              <a:path w="462280" h="165100">
                <a:moveTo>
                  <a:pt x="154093" y="0"/>
                </a:moveTo>
                <a:lnTo>
                  <a:pt x="231140" y="0"/>
                </a:lnTo>
                <a:lnTo>
                  <a:pt x="66040" y="165100"/>
                </a:lnTo>
                <a:lnTo>
                  <a:pt x="0" y="165100"/>
                </a:lnTo>
                <a:lnTo>
                  <a:pt x="0" y="154093"/>
                </a:lnTo>
                <a:close/>
              </a:path>
              <a:path w="462280" h="165100">
                <a:moveTo>
                  <a:pt x="308187" y="0"/>
                </a:moveTo>
                <a:lnTo>
                  <a:pt x="385233" y="0"/>
                </a:lnTo>
                <a:lnTo>
                  <a:pt x="220133" y="165100"/>
                </a:lnTo>
                <a:lnTo>
                  <a:pt x="143087" y="165100"/>
                </a:lnTo>
                <a:close/>
              </a:path>
              <a:path w="462280" h="165100">
                <a:moveTo>
                  <a:pt x="462280" y="0"/>
                </a:moveTo>
                <a:lnTo>
                  <a:pt x="462280" y="77047"/>
                </a:lnTo>
                <a:lnTo>
                  <a:pt x="374227" y="165100"/>
                </a:lnTo>
                <a:lnTo>
                  <a:pt x="297180" y="165100"/>
                </a:lnTo>
                <a:close/>
              </a:path>
              <a:path w="462280" h="165100">
                <a:moveTo>
                  <a:pt x="462280" y="154093"/>
                </a:moveTo>
                <a:lnTo>
                  <a:pt x="462280" y="165100"/>
                </a:lnTo>
                <a:lnTo>
                  <a:pt x="451273" y="165100"/>
                </a:lnTo>
                <a:close/>
              </a:path>
            </a:pathLst>
          </a:custGeom>
          <a:solidFill>
            <a:srgbClr val="E8710A"/>
          </a:solidFill>
          <a:ln>
            <a:noFill/>
          </a:ln>
        </p:spPr>
      </p:sp>
      <p:sp>
        <p:nvSpPr>
          <p:cNvPr id="93" name="Barrier outline"/>
          <p:cNvSpPr/>
          <p:nvPr/>
        </p:nvSpPr>
        <p:spPr>
          <a:xfrm>
            <a:off x="4671060" y="18406618"/>
            <a:ext cx="462280" cy="165100"/>
          </a:xfrm>
          <a:custGeom>
            <a:avLst/>
            <a:gdLst/>
            <a:ahLst/>
            <a:cxnLst/>
            <a:rect l="0" t="0" r="r" b="b"/>
            <a:pathLst>
              <a:path w="462280" h="165100" fill="none">
                <a:moveTo>
                  <a:pt x="0" y="0"/>
                </a:moveTo>
                <a:lnTo>
                  <a:pt x="462280" y="0"/>
                </a:lnTo>
                <a:lnTo>
                  <a:pt x="462280" y="165100"/>
                </a:lnTo>
                <a:lnTo>
                  <a:pt x="0" y="165100"/>
                </a:lnTo>
                <a:close/>
              </a:path>
            </a:pathLst>
          </a:custGeom>
          <a:noFill/>
          <a:ln w="19050" cap="rnd">
            <a:solidFill>
              <a:srgbClr val="3A3A3A"/>
            </a:solidFill>
            <a:round/>
          </a:ln>
        </p:spPr>
      </p:sp>
      <p:sp>
        <p:nvSpPr>
          <p:cNvPr id="94" name="Legend open"/>
          <p:cNvSpPr txBox="1"/>
          <p:nvPr/>
        </p:nvSpPr>
        <p:spPr>
          <a:xfrm>
            <a:off x="5283200" y="18389600"/>
            <a:ext cx="5537200" cy="317500"/>
          </a:xfrm>
          <a:prstGeom prst="rect">
            <a:avLst/>
          </a:prstGeom>
          <a:noFill/>
        </p:spPr>
        <p:txBody>
          <a:bodyPr wrap="none" lIns="0" tIns="0" rIns="0" bIns="0" anchor="t">
            <a:noAutofit/>
          </a:bodyPr>
          <a:lstStyle/>
          <a:p>
            <a:pPr marL="0" indent="0" algn="l">
              <a:buNone/>
            </a:pPr>
            <a:r>
              <a:rPr lang="en-US" sz="2000" b="0" dirty="0">
                <a:solidFill>
                  <a:srgbClr val="222222"/>
                </a:solidFill>
                <a:latin typeface="Arial"/>
                <a:cs typeface="Arial"/>
              </a:rPr>
              <a:t>PR open, not yet merged</a:t>
            </a:r>
            <a:endParaRPr lang="en-US" sz="2000" dirty="0"/>
          </a:p>
        </p:txBody>
      </p:sp>
      <p:sp>
        <p:nvSpPr>
          <p:cNvPr id="95" name="Matrix note 1"/>
          <p:cNvSpPr txBox="1"/>
          <p:nvPr/>
        </p:nvSpPr>
        <p:spPr>
          <a:xfrm>
            <a:off x="609600" y="18872200"/>
            <a:ext cx="10210800" cy="285750"/>
          </a:xfrm>
          <a:prstGeom prst="rect">
            <a:avLst/>
          </a:prstGeom>
          <a:noFill/>
        </p:spPr>
        <p:txBody>
          <a:bodyPr wrap="none" lIns="0" tIns="0" rIns="0" bIns="0" anchor="t">
            <a:noAutofit/>
          </a:bodyPr>
          <a:lstStyle/>
          <a:p>
            <a:pPr marL="0" indent="0" algn="l">
              <a:buNone/>
            </a:pPr>
            <a:r>
              <a:rPr lang="en-US" sz="1800" b="0" dirty="0">
                <a:solidFill>
                  <a:srgbClr val="727070"/>
                </a:solidFill>
                <a:latin typeface="Arial"/>
                <a:cs typeface="Arial"/>
              </a:rPr>
              <a:t>* Inputs mutated in place under torch.no_grad() or torch.inference_mode().</a:t>
            </a:r>
            <a:endParaRPr lang="en-US" sz="1800" dirty="0"/>
          </a:p>
        </p:txBody>
      </p:sp>
      <p:sp>
        <p:nvSpPr>
          <p:cNvPr id="96" name="Matrix note 2"/>
          <p:cNvSpPr txBox="1"/>
          <p:nvPr/>
        </p:nvSpPr>
        <p:spPr>
          <a:xfrm>
            <a:off x="609600" y="19189700"/>
            <a:ext cx="10210800" cy="285750"/>
          </a:xfrm>
          <a:prstGeom prst="rect">
            <a:avLst/>
          </a:prstGeom>
          <a:noFill/>
        </p:spPr>
        <p:txBody>
          <a:bodyPr wrap="none" lIns="0" tIns="0" rIns="0" bIns="0" anchor="t">
            <a:noAutofit/>
          </a:bodyPr>
          <a:lstStyle/>
          <a:p>
            <a:pPr marL="0" indent="0" algn="l">
              <a:buNone/>
            </a:pPr>
            <a:r>
              <a:rPr lang="en-US" sz="1800" b="0" dirty="0">
                <a:solidFill>
                  <a:srgbClr val="727070"/>
                </a:solidFill>
                <a:latin typeface="Arial"/>
                <a:cs typeface="Arial"/>
              </a:rPr>
              <a:t>switch is torch._higher_order_ops.switch; CUDA graph capture needs #189461.</a:t>
            </a:r>
            <a:endParaRPr lang="en-US" sz="1800" dirty="0"/>
          </a:p>
        </p:txBody>
      </p:sp>
      <p:sp>
        <p:nvSpPr>
          <p:cNvPr id="97" name="Matrix note 3"/>
          <p:cNvSpPr txBox="1"/>
          <p:nvPr/>
        </p:nvSpPr>
        <p:spPr>
          <a:xfrm>
            <a:off x="609600" y="19507200"/>
            <a:ext cx="10210800" cy="285750"/>
          </a:xfrm>
          <a:prstGeom prst="rect">
            <a:avLst/>
          </a:prstGeom>
          <a:noFill/>
        </p:spPr>
        <p:txBody>
          <a:bodyPr wrap="none" lIns="0" tIns="0" rIns="0" bIns="0" anchor="t">
            <a:noAutofit/>
          </a:bodyPr>
          <a:lstStyle/>
          <a:p>
            <a:pPr marL="0" indent="0" algn="l">
              <a:buNone/>
            </a:pPr>
            <a:r>
              <a:rPr lang="en-US" sz="1800" b="0" dirty="0">
                <a:solidFill>
                  <a:srgbClr val="727070"/>
                </a:solidFill>
                <a:latin typeface="Arial"/>
                <a:cs typeface="Arial"/>
              </a:rPr>
              <a:t>Inductor runs the control flow on the host; it emits no conditional nodes yet.</a:t>
            </a:r>
            <a:endParaRPr lang="en-US" sz="1800" dirty="0"/>
          </a:p>
        </p:txBody>
      </p:sp>
      <p:sp>
        <p:nvSpPr>
          <p:cNvPr id="98" name="Matrix note 4"/>
          <p:cNvSpPr txBox="1"/>
          <p:nvPr/>
        </p:nvSpPr>
        <p:spPr>
          <a:xfrm>
            <a:off x="609600" y="19824700"/>
            <a:ext cx="10210800" cy="285750"/>
          </a:xfrm>
          <a:prstGeom prst="rect">
            <a:avLst/>
          </a:prstGeom>
          <a:noFill/>
        </p:spPr>
        <p:txBody>
          <a:bodyPr wrap="none" lIns="0" tIns="0" rIns="0" bIns="0" anchor="t">
            <a:noAutofit/>
          </a:bodyPr>
          <a:lstStyle/>
          <a:p>
            <a:pPr marL="0" indent="0" algn="l">
              <a:buNone/>
            </a:pPr>
            <a:r>
              <a:rPr lang="en-US" sz="1800" b="0" dirty="0">
                <a:solidFill>
                  <a:srgbClr val="727070"/>
                </a:solidFill>
                <a:latin typeface="Arial"/>
                <a:cs typeface="Arial"/>
              </a:rPr>
              <a:t>Checked on PyTorch main (91a0eda); every feature above is in 2.14.</a:t>
            </a:r>
            <a:endParaRPr lang="en-US" sz="1800" dirty="0"/>
          </a:p>
        </p:txBody>
      </p:sp>
      <p:sp>
        <p:nvSpPr>
          <p:cNvPr id="99" name="Heading Embedding bags without maximum padding"/>
          <p:cNvSpPr txBox="1"/>
          <p:nvPr/>
        </p:nvSpPr>
        <p:spPr>
          <a:xfrm>
            <a:off x="11353800" y="12344400"/>
            <a:ext cx="10210800" cy="476250"/>
          </a:xfrm>
          <a:prstGeom prst="rect">
            <a:avLst/>
          </a:prstGeom>
          <a:noFill/>
        </p:spPr>
        <p:txBody>
          <a:bodyPr wrap="none" lIns="0" tIns="0" rIns="0" bIns="0" anchor="t">
            <a:noAutofit/>
          </a:bodyPr>
          <a:lstStyle/>
          <a:p>
            <a:pPr marL="0" indent="0" algn="l">
              <a:buNone/>
            </a:pPr>
            <a:r>
              <a:rPr lang="en-US" sz="3000" b="1" dirty="0">
                <a:solidFill>
                  <a:srgbClr val="1A6E6F"/>
                </a:solidFill>
                <a:latin typeface="Arial"/>
                <a:cs typeface="Arial"/>
              </a:rPr>
              <a:t>02  </a:t>
            </a:r>
            <a:r>
              <a:rPr lang="en-US" sz="3000" b="1" dirty="0">
                <a:solidFill>
                  <a:srgbClr val="222222"/>
                </a:solidFill>
                <a:latin typeface="Arial"/>
                <a:cs typeface="Arial"/>
              </a:rPr>
              <a:t>Embedding bags without maximum padding</a:t>
            </a:r>
            <a:endParaRPr lang="en-US" sz="3000" dirty="0"/>
          </a:p>
        </p:txBody>
      </p:sp>
      <p:sp>
        <p:nvSpPr>
          <p:cNvPr id="100" name="Subline Embedding bags without maximum padding"/>
          <p:cNvSpPr txBox="1"/>
          <p:nvPr/>
        </p:nvSpPr>
        <p:spPr>
          <a:xfrm>
            <a:off x="11353800" y="12877800"/>
            <a:ext cx="10210800" cy="333375"/>
          </a:xfrm>
          <a:prstGeom prst="rect">
            <a:avLst/>
          </a:prstGeom>
          <a:noFill/>
        </p:spPr>
        <p:txBody>
          <a:bodyPr wrap="none" lIns="0" tIns="0" rIns="0" bIns="0" anchor="t">
            <a:noAutofit/>
          </a:bodyPr>
          <a:lstStyle/>
          <a:p>
            <a:pPr marL="0" indent="0" algn="l">
              <a:buNone/>
            </a:pPr>
            <a:r>
              <a:rPr lang="en-US" sz="2100" b="0" dirty="0">
                <a:solidFill>
                  <a:srgbClr val="727070"/>
                </a:solidFill>
                <a:latin typeface="Arial"/>
                <a:cs typeface="Arial"/>
              </a:rPr>
              <a:t>torch.switch()  →  SWITCH conditional node</a:t>
            </a:r>
            <a:endParaRPr lang="en-US" sz="2100" dirty="0"/>
          </a:p>
        </p:txBody>
      </p:sp>
      <p:sp>
        <p:nvSpPr>
          <p:cNvPr id="101" name="Embedding motivation"/>
          <p:cNvSpPr txBox="1"/>
          <p:nvPr/>
        </p:nvSpPr>
        <p:spPr>
          <a:xfrm>
            <a:off x="11353800" y="13436600"/>
            <a:ext cx="10210800" cy="1270000"/>
          </a:xfrm>
          <a:prstGeom prst="rect">
            <a:avLst/>
          </a:prstGeom>
          <a:noFill/>
        </p:spPr>
        <p:txBody>
          <a:bodyPr wrap="square" lIns="0" tIns="0" rIns="0" bIns="0" anchor="t">
            <a:noAutofit/>
          </a:bodyPr>
          <a:lstStyle/>
          <a:p>
            <a:pPr marL="0" indent="0" algn="l">
              <a:lnSpc>
                <a:spcPts val="2900"/>
              </a:lnSpc>
              <a:buNone/>
            </a:pPr>
            <a:r>
              <a:rPr lang="en-US" sz="2300" b="0" dirty="0">
                <a:solidFill>
                  <a:srgbClr val="222222"/>
                </a:solidFill>
                <a:latin typeface="Arial"/>
                <a:cs typeface="Arial"/>
              </a:rPr>
              <a:t>Recommender system requests vary widely in token count, but each embedding bag returns a fixed-width vector. Select a token-count bucket on the GPU and pad only to that bucket's capacity for efficiency.</a:t>
            </a:r>
            <a:endParaRPr lang="en-US" sz="2300" dirty="0"/>
          </a:p>
        </p:txBody>
      </p:sp>
      <p:sp>
        <p:nvSpPr>
          <p:cNvPr id="102" name="Import: embedding switch"/>
          <p:cNvSpPr txBox="1"/>
          <p:nvPr/>
        </p:nvSpPr>
        <p:spPr>
          <a:xfrm>
            <a:off x="11353800" y="14833600"/>
            <a:ext cx="10210800" cy="285750"/>
          </a:xfrm>
          <a:prstGeom prst="rect">
            <a:avLst/>
          </a:prstGeom>
          <a:noFill/>
        </p:spPr>
        <p:txBody>
          <a:bodyPr wrap="none" lIns="0" tIns="0" rIns="0" bIns="0" anchor="t">
            <a:noAutofit/>
          </a:bodyPr>
          <a:lstStyle/>
          <a:p>
            <a:pPr marL="0" indent="0" algn="l">
              <a:buNone/>
            </a:pPr>
            <a:r>
              <a:rPr lang="en-US" sz="1800" b="0" dirty="0">
                <a:solidFill>
                  <a:srgbClr val="727070"/>
                </a:solidFill>
                <a:latin typeface="Liberation Mono"/>
                <a:cs typeface="Liberation Mono"/>
              </a:rPr>
              <a:t>from torch._higher_order_ops import switch</a:t>
            </a:r>
            <a:endParaRPr lang="en-US" sz="1800" dirty="0"/>
          </a:p>
        </p:txBody>
      </p:sp>
      <p:sp>
        <p:nvSpPr>
          <p:cNvPr id="103" name="Code: embedding_bag highlight"/>
          <p:cNvSpPr/>
          <p:nvPr/>
        </p:nvSpPr>
        <p:spPr>
          <a:xfrm>
            <a:off x="11252200" y="18630900"/>
            <a:ext cx="10414000" cy="317500"/>
          </a:xfrm>
          <a:prstGeom prst="rect">
            <a:avLst/>
          </a:prstGeom>
          <a:solidFill>
            <a:srgbClr val="FEF1C8"/>
          </a:solidFill>
          <a:ln>
            <a:noFill/>
          </a:ln>
        </p:spPr>
      </p:sp>
      <p:sp>
        <p:nvSpPr>
          <p:cNvPr id="104" name="Code: embedding_bag marker"/>
          <p:cNvSpPr/>
          <p:nvPr/>
        </p:nvSpPr>
        <p:spPr>
          <a:xfrm>
            <a:off x="11252200" y="18630900"/>
            <a:ext cx="38100" cy="317500"/>
          </a:xfrm>
          <a:prstGeom prst="rect">
            <a:avLst/>
          </a:prstGeom>
          <a:solidFill>
            <a:srgbClr val="C44918"/>
          </a:solidFill>
          <a:ln>
            <a:noFill/>
          </a:ln>
        </p:spPr>
      </p:sp>
      <p:sp>
        <p:nvSpPr>
          <p:cNvPr id="105" name="Code: embedding_bag"/>
          <p:cNvSpPr txBox="1"/>
          <p:nvPr/>
        </p:nvSpPr>
        <p:spPr>
          <a:xfrm>
            <a:off x="11353800" y="15290800"/>
            <a:ext cx="10210800" cy="3657600"/>
          </a:xfrm>
          <a:prstGeom prst="rect">
            <a:avLst/>
          </a:prstGeom>
          <a:noFill/>
        </p:spPr>
        <p:txBody>
          <a:bodyPr wrap="none" lIns="0" tIns="0" rIns="0" bIns="0" anchor="t">
            <a:noAutofit/>
          </a:bodyPr>
          <a:lstStyle/>
          <a:p>
            <a:pPr marL="0" indent="0" algn="l">
              <a:lnSpc>
                <a:spcPts val="2400"/>
              </a:lnSpc>
              <a:buNone/>
            </a:pPr>
            <a:r>
              <a:rPr lang="en-US" sz="2000" b="1" dirty="0">
                <a:solidFill>
                  <a:srgbClr val="295897"/>
                </a:solidFill>
                <a:latin typeface="Liberation Mono"/>
                <a:cs typeface="Liberation Mono"/>
              </a:rPr>
              <a:t>def</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embedding_bag</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table</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ids</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n</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caps</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1A6E6F"/>
                </a:solidFill>
                <a:latin typeface="Liberation Mono"/>
                <a:cs typeface="Liberation Mono"/>
              </a:rPr>
              <a:t>32</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1A6E6F"/>
                </a:solidFill>
                <a:latin typeface="Liberation Mono"/>
                <a:cs typeface="Liberation Mono"/>
              </a:rPr>
              <a:t>128</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1A6E6F"/>
                </a:solidFill>
                <a:latin typeface="Liberation Mono"/>
                <a:cs typeface="Liberation Mono"/>
              </a:rPr>
              <a:t>512</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1A6E6F"/>
                </a:solidFill>
                <a:latin typeface="Liberation Mono"/>
                <a:cs typeface="Liberation Mono"/>
              </a:rPr>
              <a:t>4096</a:t>
            </a:r>
            <a:r>
              <a:rPr lang="en-US" sz="2000" b="0" dirty="0">
                <a:solidFill>
                  <a:srgbClr val="222222"/>
                </a:solidFill>
                <a:latin typeface="Liberation Mono"/>
                <a:cs typeface="Liberation Mono"/>
              </a:rPr>
              <a:t>)</a:t>
            </a: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bucket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sum</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n</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&gt;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c</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to</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torch</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int32</a:t>
            </a:r>
            <a:r>
              <a:rPr lang="en-US" sz="2000" b="0" dirty="0">
                <a:solidFill>
                  <a:srgbClr val="222222"/>
                </a:solidFill>
                <a:latin typeface="Liberation Mono"/>
                <a:cs typeface="Liberation Mono"/>
              </a:rPr>
              <a:t>)</a:t>
            </a: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1" dirty="0">
                <a:solidFill>
                  <a:srgbClr val="295897"/>
                </a:solidFill>
                <a:latin typeface="Liberation Mono"/>
                <a:cs typeface="Liberation Mono"/>
              </a:rPr>
              <a:t>for</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c</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in</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caps</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1A6E6F"/>
                </a:solidFill>
                <a:latin typeface="Liberation Mono"/>
                <a:cs typeface="Liberation Mono"/>
              </a:rPr>
              <a:t>1</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endParaRPr lang="en-US" sz="2000" dirty="0"/>
          </a:p>
          <a:p>
            <a:pPr marL="0" indent="0" algn="l">
              <a:lnSpc>
                <a:spcPts val="2400"/>
              </a:lnSpc>
              <a:buNone/>
            </a:pP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1" dirty="0">
                <a:solidFill>
                  <a:srgbClr val="295897"/>
                </a:solidFill>
                <a:latin typeface="Liberation Mono"/>
                <a:cs typeface="Liberation Mono"/>
              </a:rPr>
              <a:t>def</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reduce</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cap</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pos</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torch</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arange</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cap</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device</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ids</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device</a:t>
            </a:r>
            <a:r>
              <a:rPr lang="en-US" sz="2000" b="0" dirty="0">
                <a:solidFill>
                  <a:srgbClr val="222222"/>
                </a:solidFill>
                <a:latin typeface="Liberation Mono"/>
                <a:cs typeface="Liberation Mono"/>
              </a:rPr>
              <a:t>)</a:t>
            </a: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rows</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table</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ids</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cap</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1" dirty="0">
                <a:solidFill>
                  <a:srgbClr val="295897"/>
                </a:solidFill>
                <a:latin typeface="Liberation Mono"/>
                <a:cs typeface="Liberation Mono"/>
              </a:rPr>
              <a:t>return</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rows</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pos</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&lt;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n</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1" dirty="0">
                <a:solidFill>
                  <a:srgbClr val="295897"/>
                </a:solidFill>
                <a:latin typeface="Liberation Mono"/>
                <a:cs typeface="Liberation Mono"/>
              </a:rPr>
              <a:t>None</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sum</a:t>
            </a:r>
            <a:r>
              <a:rPr lang="en-US" sz="2000" b="0" dirty="0">
                <a:solidFill>
                  <a:srgbClr val="222222"/>
                </a:solidFill>
                <a:latin typeface="Liberation Mono"/>
                <a:cs typeface="Liberation Mono"/>
              </a:rPr>
              <a:t>(</a:t>
            </a:r>
            <a:r>
              <a:rPr lang="en-US" sz="2000" b="0" dirty="0">
                <a:solidFill>
                  <a:srgbClr val="1A6E6F"/>
                </a:solidFill>
                <a:latin typeface="Liberation Mono"/>
                <a:cs typeface="Liberation Mono"/>
              </a:rPr>
              <a:t>0</a:t>
            </a:r>
            <a:r>
              <a:rPr lang="en-US" sz="2000" b="0" dirty="0">
                <a:solidFill>
                  <a:srgbClr val="222222"/>
                </a:solidFill>
                <a:latin typeface="Liberation Mono"/>
                <a:cs typeface="Liberation Mono"/>
              </a:rPr>
              <a:t>)</a:t>
            </a:r>
            <a:endParaRPr lang="en-US" sz="2000" dirty="0"/>
          </a:p>
          <a:p>
            <a:pPr marL="0" indent="0" algn="l">
              <a:lnSpc>
                <a:spcPts val="2400"/>
              </a:lnSpc>
              <a:buNone/>
            </a:pP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branches</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1" dirty="0">
                <a:solidFill>
                  <a:srgbClr val="295897"/>
                </a:solidFill>
                <a:latin typeface="Liberation Mono"/>
                <a:cs typeface="Liberation Mono"/>
              </a:rPr>
              <a:t>lambda</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c</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c</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reduce</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c</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1" dirty="0">
                <a:solidFill>
                  <a:srgbClr val="295897"/>
                </a:solidFill>
                <a:latin typeface="Liberation Mono"/>
                <a:cs typeface="Liberation Mono"/>
              </a:rPr>
              <a:t>for</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c</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in</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caps</a:t>
            </a:r>
            <a:r>
              <a:rPr lang="en-US" sz="2000" b="0" dirty="0">
                <a:solidFill>
                  <a:srgbClr val="222222"/>
                </a:solidFill>
                <a:latin typeface="Liberation Mono"/>
                <a:cs typeface="Liberation Mono"/>
              </a:rPr>
              <a:t>]</a:t>
            </a:r>
            <a:endParaRPr lang="en-US" sz="2000" dirty="0"/>
          </a:p>
          <a:p>
            <a:pPr marL="0" indent="0" algn="l">
              <a:lnSpc>
                <a:spcPts val="2400"/>
              </a:lnSpc>
              <a:buNone/>
            </a:pPr>
            <a:r>
              <a:rPr lang="en-US" sz="2000" b="0" dirty="0">
                <a:solidFill>
                  <a:srgbClr val="222222"/>
                </a:solidFill>
                <a:latin typeface="Liberation Mono"/>
                <a:cs typeface="Liberation Mono"/>
              </a:rPr>
              <a:t>    </a:t>
            </a:r>
            <a:r>
              <a:rPr lang="en-US" sz="2000" b="1" dirty="0">
                <a:solidFill>
                  <a:srgbClr val="295897"/>
                </a:solidFill>
                <a:latin typeface="Liberation Mono"/>
                <a:cs typeface="Liberation Mono"/>
              </a:rPr>
              <a:t>return</a:t>
            </a:r>
            <a:r>
              <a:rPr lang="en-US" sz="2000" b="0" dirty="0">
                <a:solidFill>
                  <a:srgbClr val="222222"/>
                </a:solidFill>
                <a:latin typeface="Liberation Mono"/>
                <a:cs typeface="Liberation Mono"/>
              </a:rPr>
              <a:t> </a:t>
            </a:r>
            <a:r>
              <a:rPr lang="en-US" sz="2000" b="1" dirty="0">
                <a:solidFill>
                  <a:srgbClr val="C44918"/>
                </a:solidFill>
                <a:latin typeface="Liberation Mono"/>
                <a:cs typeface="Liberation Mono"/>
              </a:rPr>
              <a:t>switch</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bucket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branches</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 </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r>
              <a:rPr lang="en-US" sz="2000" b="0" dirty="0">
                <a:solidFill>
                  <a:srgbClr val="222222"/>
                </a:solidFill>
                <a:latin typeface="Liberation Mono"/>
                <a:cs typeface="Liberation Mono"/>
              </a:rPr>
              <a:t>)</a:t>
            </a:r>
            <a:endParaRPr lang="en-US" sz="2000" dirty="0"/>
          </a:p>
        </p:txBody>
      </p:sp>
      <p:sp>
        <p:nvSpPr>
          <p:cNvPr id="106" name="Embedding SWITCH"/>
          <p:cNvSpPr/>
          <p:nvPr/>
        </p:nvSpPr>
        <p:spPr>
          <a:xfrm>
            <a:off x="11455400" y="19202400"/>
            <a:ext cx="10007600" cy="1600200"/>
          </a:xfrm>
          <a:prstGeom prst="roundRect">
            <a:avLst>
              <a:gd name="adj" fmla="val 11111"/>
            </a:avLst>
          </a:prstGeom>
          <a:solidFill>
            <a:srgbClr val="FFF7E8"/>
          </a:solidFill>
          <a:ln w="38100">
            <a:solidFill>
              <a:srgbClr val="C44918"/>
            </a:solidFill>
            <a:round/>
          </a:ln>
        </p:spPr>
      </p:sp>
      <p:sp>
        <p:nvSpPr>
          <p:cNvPr id="107" name="Embedding SWITCH title"/>
          <p:cNvSpPr txBox="1"/>
          <p:nvPr/>
        </p:nvSpPr>
        <p:spPr>
          <a:xfrm>
            <a:off x="11684000" y="19354800"/>
            <a:ext cx="5003800" cy="349250"/>
          </a:xfrm>
          <a:prstGeom prst="rect">
            <a:avLst/>
          </a:prstGeom>
          <a:noFill/>
        </p:spPr>
        <p:txBody>
          <a:bodyPr wrap="none" lIns="0" tIns="0" rIns="0" bIns="0" anchor="t">
            <a:noAutofit/>
          </a:bodyPr>
          <a:lstStyle/>
          <a:p>
            <a:pPr marL="0" indent="0" algn="l">
              <a:buNone/>
            </a:pPr>
            <a:r>
              <a:rPr lang="en-US" sz="2200" b="1" dirty="0">
                <a:solidFill>
                  <a:srgbClr val="C44918"/>
                </a:solidFill>
                <a:latin typeface="Arial"/>
                <a:cs typeface="Arial"/>
              </a:rPr>
              <a:t>SWITCH: token-count bucket</a:t>
            </a:r>
            <a:endParaRPr lang="en-US" sz="2200" dirty="0"/>
          </a:p>
        </p:txBody>
      </p:sp>
      <p:sp>
        <p:nvSpPr>
          <p:cNvPr id="108" name="Embedding SWITCH handle"/>
          <p:cNvSpPr txBox="1"/>
          <p:nvPr/>
        </p:nvSpPr>
        <p:spPr>
          <a:xfrm>
            <a:off x="16459200" y="19380200"/>
            <a:ext cx="4775200" cy="301625"/>
          </a:xfrm>
          <a:prstGeom prst="rect">
            <a:avLst/>
          </a:prstGeom>
          <a:noFill/>
        </p:spPr>
        <p:txBody>
          <a:bodyPr wrap="none" lIns="0" tIns="0" rIns="0" bIns="0" anchor="t">
            <a:noAutofit/>
          </a:bodyPr>
          <a:lstStyle/>
          <a:p>
            <a:pPr marL="0" indent="0" algn="r">
              <a:buNone/>
            </a:pPr>
            <a:r>
              <a:rPr lang="en-US" sz="1900" b="0" dirty="0">
                <a:solidFill>
                  <a:srgbClr val="1A6E6F"/>
                </a:solidFill>
                <a:latin typeface="Liberation Mono"/>
                <a:cs typeface="Liberation Mono"/>
              </a:rPr>
              <a:t>n = 80</a:t>
            </a:r>
            <a:endParaRPr lang="en-US" sz="1900" dirty="0"/>
          </a:p>
        </p:txBody>
      </p:sp>
      <p:sp>
        <p:nvSpPr>
          <p:cNvPr id="109" name="Embedding bucket 32"/>
          <p:cNvSpPr/>
          <p:nvPr/>
        </p:nvSpPr>
        <p:spPr>
          <a:xfrm>
            <a:off x="11684000" y="19850100"/>
            <a:ext cx="2273300" cy="558800"/>
          </a:xfrm>
          <a:prstGeom prst="roundRect">
            <a:avLst>
              <a:gd name="adj" fmla="val 18182"/>
            </a:avLst>
          </a:prstGeom>
          <a:solidFill>
            <a:srgbClr val="FFFFFF"/>
          </a:solidFill>
          <a:ln w="19050">
            <a:solidFill>
              <a:srgbClr val="9E9E9E"/>
            </a:solidFill>
            <a:round/>
          </a:ln>
        </p:spPr>
        <p:txBody>
          <a:bodyPr wrap="none" lIns="0" tIns="0" rIns="0" bIns="0" anchor="ctr">
            <a:noAutofit/>
          </a:bodyPr>
          <a:lstStyle/>
          <a:p>
            <a:pPr marL="0" indent="0" algn="ctr">
              <a:buNone/>
            </a:pPr>
            <a:r>
              <a:rPr lang="en-US" sz="2000" b="0" dirty="0">
                <a:solidFill>
                  <a:srgbClr val="727070"/>
                </a:solidFill>
                <a:latin typeface="Arial"/>
                <a:cs typeface="Arial"/>
              </a:rPr>
              <a:t>32 tokens</a:t>
            </a:r>
            <a:endParaRPr lang="en-US" sz="2000" dirty="0"/>
          </a:p>
        </p:txBody>
      </p:sp>
      <p:sp>
        <p:nvSpPr>
          <p:cNvPr id="110" name="Embedding bucket 128"/>
          <p:cNvSpPr/>
          <p:nvPr/>
        </p:nvSpPr>
        <p:spPr>
          <a:xfrm>
            <a:off x="14109700" y="19850100"/>
            <a:ext cx="2273300" cy="558800"/>
          </a:xfrm>
          <a:prstGeom prst="roundRect">
            <a:avLst>
              <a:gd name="adj" fmla="val 18182"/>
            </a:avLst>
          </a:prstGeom>
          <a:solidFill>
            <a:srgbClr val="C44918"/>
          </a:solidFill>
          <a:ln w="19050">
            <a:solidFill>
              <a:srgbClr val="C44918"/>
            </a:solidFill>
            <a:round/>
          </a:ln>
        </p:spPr>
        <p:txBody>
          <a:bodyPr wrap="none" lIns="0" tIns="0" rIns="0" bIns="0" anchor="ctr">
            <a:noAutofit/>
          </a:bodyPr>
          <a:lstStyle/>
          <a:p>
            <a:pPr marL="0" indent="0" algn="ctr">
              <a:buNone/>
            </a:pPr>
            <a:r>
              <a:rPr lang="en-US" sz="2000" b="1" dirty="0">
                <a:solidFill>
                  <a:srgbClr val="FFFFFF"/>
                </a:solidFill>
                <a:latin typeface="Arial"/>
                <a:cs typeface="Arial"/>
              </a:rPr>
              <a:t>128 tokens</a:t>
            </a:r>
            <a:endParaRPr lang="en-US" sz="2000" dirty="0"/>
          </a:p>
        </p:txBody>
      </p:sp>
      <p:sp>
        <p:nvSpPr>
          <p:cNvPr id="111" name="Embedding bucket 512"/>
          <p:cNvSpPr/>
          <p:nvPr/>
        </p:nvSpPr>
        <p:spPr>
          <a:xfrm>
            <a:off x="16535400" y="19850100"/>
            <a:ext cx="2273300" cy="558800"/>
          </a:xfrm>
          <a:prstGeom prst="roundRect">
            <a:avLst>
              <a:gd name="adj" fmla="val 18182"/>
            </a:avLst>
          </a:prstGeom>
          <a:solidFill>
            <a:srgbClr val="FFFFFF"/>
          </a:solidFill>
          <a:ln w="19050">
            <a:solidFill>
              <a:srgbClr val="9E9E9E"/>
            </a:solidFill>
            <a:round/>
          </a:ln>
        </p:spPr>
        <p:txBody>
          <a:bodyPr wrap="none" lIns="0" tIns="0" rIns="0" bIns="0" anchor="ctr">
            <a:noAutofit/>
          </a:bodyPr>
          <a:lstStyle/>
          <a:p>
            <a:pPr marL="0" indent="0" algn="ctr">
              <a:buNone/>
            </a:pPr>
            <a:r>
              <a:rPr lang="en-US" sz="2000" b="0" dirty="0">
                <a:solidFill>
                  <a:srgbClr val="727070"/>
                </a:solidFill>
                <a:latin typeface="Arial"/>
                <a:cs typeface="Arial"/>
              </a:rPr>
              <a:t>512 tokens</a:t>
            </a:r>
            <a:endParaRPr lang="en-US" sz="2000" dirty="0"/>
          </a:p>
        </p:txBody>
      </p:sp>
      <p:sp>
        <p:nvSpPr>
          <p:cNvPr id="112" name="Embedding bucket 4096"/>
          <p:cNvSpPr/>
          <p:nvPr/>
        </p:nvSpPr>
        <p:spPr>
          <a:xfrm>
            <a:off x="18961100" y="19850100"/>
            <a:ext cx="2273300" cy="558800"/>
          </a:xfrm>
          <a:prstGeom prst="roundRect">
            <a:avLst>
              <a:gd name="adj" fmla="val 18182"/>
            </a:avLst>
          </a:prstGeom>
          <a:solidFill>
            <a:srgbClr val="FFFFFF"/>
          </a:solidFill>
          <a:ln w="19050">
            <a:solidFill>
              <a:srgbClr val="9E9E9E"/>
            </a:solidFill>
            <a:round/>
          </a:ln>
        </p:spPr>
        <p:txBody>
          <a:bodyPr wrap="none" lIns="0" tIns="0" rIns="0" bIns="0" anchor="ctr">
            <a:noAutofit/>
          </a:bodyPr>
          <a:lstStyle/>
          <a:p>
            <a:pPr marL="0" indent="0" algn="ctr">
              <a:buNone/>
            </a:pPr>
            <a:r>
              <a:rPr lang="en-US" sz="2000" b="0" dirty="0">
                <a:solidFill>
                  <a:srgbClr val="727070"/>
                </a:solidFill>
                <a:latin typeface="Arial"/>
                <a:cs typeface="Arial"/>
              </a:rPr>
              <a:t>4096 tokens</a:t>
            </a:r>
            <a:endParaRPr lang="en-US" sz="2000" dirty="0"/>
          </a:p>
        </p:txBody>
      </p:sp>
      <p:sp>
        <p:nvSpPr>
          <p:cNvPr id="113" name="Embedding bucket result"/>
          <p:cNvSpPr txBox="1"/>
          <p:nvPr/>
        </p:nvSpPr>
        <p:spPr>
          <a:xfrm>
            <a:off x="11684000" y="20485100"/>
            <a:ext cx="9550400" cy="285750"/>
          </a:xfrm>
          <a:prstGeom prst="rect">
            <a:avLst/>
          </a:prstGeom>
          <a:noFill/>
        </p:spPr>
        <p:txBody>
          <a:bodyPr wrap="none" lIns="0" tIns="0" rIns="0" bIns="0" anchor="t">
            <a:noAutofit/>
          </a:bodyPr>
          <a:lstStyle/>
          <a:p>
            <a:pPr marL="0" indent="0" algn="ctr">
              <a:buNone/>
            </a:pPr>
            <a:r>
              <a:rPr lang="en-US" sz="1800" b="0" dirty="0">
                <a:solidFill>
                  <a:srgbClr val="727070"/>
                </a:solidFill>
                <a:latin typeface="Arial"/>
                <a:cs typeface="Arial"/>
              </a:rPr>
              <a:t>Every branch returns [D]; 80 tokens use the 128-token branch.</a:t>
            </a:r>
            <a:endParaRPr lang="en-US" sz="1800" dirty="0"/>
          </a:p>
        </p:txBody>
      </p:sp>
      <p:sp>
        <p:nvSpPr>
          <p:cNvPr id="114" name="Embedding input contract"/>
          <p:cNvSpPr txBox="1"/>
          <p:nvPr/>
        </p:nvSpPr>
        <p:spPr>
          <a:xfrm>
            <a:off x="11353800" y="20955000"/>
            <a:ext cx="10210800" cy="317500"/>
          </a:xfrm>
          <a:prstGeom prst="rect">
            <a:avLst/>
          </a:prstGeom>
          <a:noFill/>
        </p:spPr>
        <p:txBody>
          <a:bodyPr wrap="none" lIns="0" tIns="0" rIns="0" bIns="0" anchor="t">
            <a:noAutofit/>
          </a:bodyPr>
          <a:lstStyle/>
          <a:p>
            <a:pPr marL="0" indent="0" algn="l">
              <a:buNone/>
            </a:pPr>
            <a:r>
              <a:rPr lang="en-US" sz="2000" b="0" dirty="0">
                <a:solidFill>
                  <a:srgbClr val="727070"/>
                </a:solidFill>
                <a:latin typeface="Arial"/>
                <a:cs typeface="Arial"/>
              </a:rPr>
              <a:t>ids: fixed 4,096-slot buffer; 0 ≤ n ≤ 4,096; output: [D].</a:t>
            </a:r>
            <a:endParaRPr lang="en-US" sz="2000" dirty="0"/>
          </a:p>
        </p:txBody>
      </p:sp>
      <p:sp>
        <p:nvSpPr>
          <p:cNvPr id="115" name="Heading Lossless MoE routing with software backpressure"/>
          <p:cNvSpPr txBox="1"/>
          <p:nvPr/>
        </p:nvSpPr>
        <p:spPr>
          <a:xfrm>
            <a:off x="22098000" y="12344400"/>
            <a:ext cx="10210800" cy="476250"/>
          </a:xfrm>
          <a:prstGeom prst="rect">
            <a:avLst/>
          </a:prstGeom>
          <a:noFill/>
        </p:spPr>
        <p:txBody>
          <a:bodyPr wrap="none" lIns="0" tIns="0" rIns="0" bIns="0" anchor="t">
            <a:noAutofit/>
          </a:bodyPr>
          <a:lstStyle/>
          <a:p>
            <a:pPr marL="0" indent="0" algn="l">
              <a:buNone/>
            </a:pPr>
            <a:r>
              <a:rPr lang="en-US" sz="3000" b="1" dirty="0">
                <a:solidFill>
                  <a:srgbClr val="1A6E6F"/>
                </a:solidFill>
                <a:latin typeface="Arial"/>
                <a:cs typeface="Arial"/>
              </a:rPr>
              <a:t>03  </a:t>
            </a:r>
            <a:r>
              <a:rPr lang="en-US" sz="3000" b="1" dirty="0">
                <a:solidFill>
                  <a:srgbClr val="222222"/>
                </a:solidFill>
                <a:latin typeface="Arial"/>
                <a:cs typeface="Arial"/>
              </a:rPr>
              <a:t>Lossless MoE routing with software backpressure</a:t>
            </a:r>
            <a:endParaRPr lang="en-US" sz="3000" dirty="0"/>
          </a:p>
        </p:txBody>
      </p:sp>
      <p:sp>
        <p:nvSpPr>
          <p:cNvPr id="116" name="Subline Lossless MoE routing with software backpressure"/>
          <p:cNvSpPr txBox="1"/>
          <p:nvPr/>
        </p:nvSpPr>
        <p:spPr>
          <a:xfrm>
            <a:off x="22098000" y="12877800"/>
            <a:ext cx="10210800" cy="333375"/>
          </a:xfrm>
          <a:prstGeom prst="rect">
            <a:avLst/>
          </a:prstGeom>
          <a:noFill/>
        </p:spPr>
        <p:txBody>
          <a:bodyPr wrap="none" lIns="0" tIns="0" rIns="0" bIns="0" anchor="t">
            <a:noAutofit/>
          </a:bodyPr>
          <a:lstStyle/>
          <a:p>
            <a:pPr marL="0" indent="0" algn="l">
              <a:buNone/>
            </a:pPr>
            <a:r>
              <a:rPr lang="en-US" sz="2100" b="0" dirty="0">
                <a:solidFill>
                  <a:srgbClr val="727070"/>
                </a:solidFill>
                <a:latin typeface="Arial"/>
                <a:cs typeface="Arial"/>
              </a:rPr>
              <a:t>ep8_moe: torch.while_loop() + grouped_mm()</a:t>
            </a:r>
            <a:endParaRPr lang="en-US" sz="2100" dirty="0"/>
          </a:p>
        </p:txBody>
      </p:sp>
      <p:sp>
        <p:nvSpPr>
          <p:cNvPr id="117" name="MoE capacity"/>
          <p:cNvSpPr txBox="1"/>
          <p:nvPr/>
        </p:nvSpPr>
        <p:spPr>
          <a:xfrm>
            <a:off x="22098000" y="13436600"/>
            <a:ext cx="10210800" cy="317500"/>
          </a:xfrm>
          <a:prstGeom prst="rect">
            <a:avLst/>
          </a:prstGeom>
          <a:noFill/>
        </p:spPr>
        <p:txBody>
          <a:bodyPr wrap="none" lIns="0" tIns="0" rIns="0" bIns="0" anchor="t">
            <a:noAutofit/>
          </a:bodyPr>
          <a:lstStyle/>
          <a:p>
            <a:pPr marL="0" indent="0" algn="l">
              <a:buNone/>
            </a:pPr>
            <a:r>
              <a:rPr lang="en-US" sz="2000" b="0" dirty="0">
                <a:solidFill>
                  <a:srgbClr val="222222"/>
                </a:solidFill>
                <a:latin typeface="Arial"/>
                <a:cs typeface="Arial"/>
              </a:rPr>
              <a:t>EP=8; 4,096 tokens/rank; 512 slots/source; zero tokens dropped.</a:t>
            </a:r>
            <a:endParaRPr lang="en-US" sz="2000" dirty="0"/>
          </a:p>
        </p:txBody>
      </p:sp>
      <p:sp>
        <p:nvSpPr>
          <p:cNvPr id="118" name="MoE rounds heading"/>
          <p:cNvSpPr txBox="1"/>
          <p:nvPr/>
        </p:nvSpPr>
        <p:spPr>
          <a:xfrm>
            <a:off x="22098000" y="13893800"/>
            <a:ext cx="10210800" cy="333375"/>
          </a:xfrm>
          <a:prstGeom prst="rect">
            <a:avLst/>
          </a:prstGeom>
          <a:noFill/>
        </p:spPr>
        <p:txBody>
          <a:bodyPr wrap="none" lIns="0" tIns="0" rIns="0" bIns="0" anchor="t">
            <a:noAutofit/>
          </a:bodyPr>
          <a:lstStyle/>
          <a:p>
            <a:pPr marL="0" indent="0" algn="l">
              <a:buNone/>
            </a:pPr>
            <a:r>
              <a:rPr lang="en-US" sz="2100" b="1" dirty="0">
                <a:solidFill>
                  <a:srgbClr val="222222"/>
                </a:solidFill>
                <a:latin typeface="Arial"/>
                <a:cs typeface="Arial"/>
              </a:rPr>
              <a:t>1. All ranks agree on the number of rounds</a:t>
            </a:r>
            <a:endParaRPr lang="en-US" sz="2100" dirty="0"/>
          </a:p>
        </p:txBody>
      </p:sp>
      <p:sp>
        <p:nvSpPr>
          <p:cNvPr id="119" name="Code: MoE rounds"/>
          <p:cNvSpPr txBox="1"/>
          <p:nvPr/>
        </p:nvSpPr>
        <p:spPr>
          <a:xfrm>
            <a:off x="22098000" y="14300200"/>
            <a:ext cx="10210800" cy="2628900"/>
          </a:xfrm>
          <a:prstGeom prst="rect">
            <a:avLst/>
          </a:prstGeom>
          <a:noFill/>
        </p:spPr>
        <p:txBody>
          <a:bodyPr wrap="none" lIns="0" tIns="0" rIns="0" bIns="0" anchor="t">
            <a:noAutofit/>
          </a:bodyPr>
          <a:lstStyle/>
          <a:p>
            <a:pPr marL="0" indent="0" algn="l">
              <a:lnSpc>
                <a:spcPts val="2300"/>
              </a:lnSpc>
              <a:buNone/>
            </a:pPr>
            <a:r>
              <a:rPr lang="en-US" sz="1900" b="0" dirty="0">
                <a:solidFill>
                  <a:srgbClr val="222222"/>
                </a:solidFill>
                <a:latin typeface="Liberation Mono"/>
                <a:cs typeface="Liberation Mono"/>
              </a:rPr>
              <a:t>destinations</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routes</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LOCAL_EXPERTS</a:t>
            </a:r>
            <a:endParaRPr lang="en-US" sz="1900" dirty="0"/>
          </a:p>
          <a:p>
            <a:pPr marL="0" indent="0" algn="l">
              <a:lnSpc>
                <a:spcPts val="2300"/>
              </a:lnSpc>
              <a:buNone/>
            </a:pPr>
            <a:r>
              <a:rPr lang="en-US" sz="1900" b="0" dirty="0">
                <a:solidFill>
                  <a:srgbClr val="222222"/>
                </a:solidFill>
                <a:latin typeface="Liberation Mono"/>
                <a:cs typeface="Liberation Mono"/>
              </a:rPr>
              <a:t>tokens_per_destination</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destinations</a:t>
            </a:r>
            <a:r>
              <a:rPr lang="en-US" sz="1900" b="0" dirty="0">
                <a:solidFill>
                  <a:srgbClr val="222222"/>
                </a:solidFill>
                <a:latin typeface="Liberation Mono"/>
                <a:cs typeface="Liberation Mono"/>
              </a:rPr>
              <a:t>[</a:t>
            </a:r>
            <a:r>
              <a:rPr lang="en-US" sz="1900" b="1" dirty="0">
                <a:solidFill>
                  <a:srgbClr val="295897"/>
                </a:solidFill>
                <a:latin typeface="Liberation Mono"/>
                <a:cs typeface="Liberation Mono"/>
              </a:rPr>
              <a:t>None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peers</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sum</a:t>
            </a:r>
            <a:r>
              <a:rPr lang="en-US" sz="1900" b="0" dirty="0">
                <a:solidFill>
                  <a:srgbClr val="222222"/>
                </a:solidFill>
                <a:latin typeface="Liberation Mono"/>
                <a:cs typeface="Liberation Mono"/>
              </a:rPr>
              <a:t>(</a:t>
            </a:r>
            <a:r>
              <a:rPr lang="en-US" sz="1900" b="0" dirty="0">
                <a:solidFill>
                  <a:srgbClr val="1A6E6F"/>
                </a:solidFill>
                <a:latin typeface="Liberation Mono"/>
                <a:cs typeface="Liberation Mono"/>
              </a:rPr>
              <a:t>1</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local_rounds</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tokens_per_destination</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PEER_CAPACITY</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1A6E6F"/>
                </a:solidFill>
                <a:latin typeface="Liberation Mono"/>
                <a:cs typeface="Liberation Mono"/>
              </a:rPr>
              <a:t>1</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PEER_CAPACITY</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max</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total_rounds</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sync_all_reduce_max</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local_rounds</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1" dirty="0">
                <a:solidFill>
                  <a:srgbClr val="295897"/>
                </a:solidFill>
                <a:latin typeface="Liberation Mono"/>
                <a:cs typeface="Liberation Mono"/>
              </a:rPr>
              <a:t>def</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cond</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iteration</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done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output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1" dirty="0">
                <a:solidFill>
                  <a:srgbClr val="295897"/>
                </a:solidFill>
                <a:latin typeface="Liberation Mono"/>
                <a:cs typeface="Liberation Mono"/>
              </a:rPr>
              <a:t>return</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iteration</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&lt;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total_rounds</a:t>
            </a:r>
            <a:endParaRPr lang="en-US" sz="1900" dirty="0"/>
          </a:p>
        </p:txBody>
      </p:sp>
      <p:sp>
        <p:nvSpPr>
          <p:cNvPr id="120" name="MoE GEMM heading"/>
          <p:cNvSpPr txBox="1"/>
          <p:nvPr/>
        </p:nvSpPr>
        <p:spPr>
          <a:xfrm>
            <a:off x="22098000" y="17183100"/>
            <a:ext cx="10210800" cy="333375"/>
          </a:xfrm>
          <a:prstGeom prst="rect">
            <a:avLst/>
          </a:prstGeom>
          <a:noFill/>
        </p:spPr>
        <p:txBody>
          <a:bodyPr wrap="none" lIns="0" tIns="0" rIns="0" bIns="0" anchor="t">
            <a:noAutofit/>
          </a:bodyPr>
          <a:lstStyle/>
          <a:p>
            <a:pPr marL="0" indent="0" algn="l">
              <a:buNone/>
            </a:pPr>
            <a:r>
              <a:rPr lang="en-US" sz="2100" b="1" dirty="0">
                <a:solidFill>
                  <a:srgbClr val="222222"/>
                </a:solidFill>
                <a:latin typeface="Arial"/>
                <a:cs typeface="Arial"/>
              </a:rPr>
              <a:t>2. Group packed tokens by expert; run grouped GEMM</a:t>
            </a:r>
            <a:endParaRPr lang="en-US" sz="2100" dirty="0"/>
          </a:p>
        </p:txBody>
      </p:sp>
      <p:sp>
        <p:nvSpPr>
          <p:cNvPr id="121" name="Code: MoE grouped GEMM"/>
          <p:cNvSpPr txBox="1"/>
          <p:nvPr/>
        </p:nvSpPr>
        <p:spPr>
          <a:xfrm>
            <a:off x="22098000" y="17614900"/>
            <a:ext cx="10210800" cy="2044700"/>
          </a:xfrm>
          <a:prstGeom prst="rect">
            <a:avLst/>
          </a:prstGeom>
          <a:noFill/>
        </p:spPr>
        <p:txBody>
          <a:bodyPr wrap="none" lIns="0" tIns="0" rIns="0" bIns="0" anchor="t">
            <a:noAutofit/>
          </a:bodyPr>
          <a:lstStyle/>
          <a:p>
            <a:pPr marL="0" indent="0" algn="l">
              <a:lnSpc>
                <a:spcPts val="2300"/>
              </a:lnSpc>
              <a:buNone/>
            </a:pPr>
            <a:r>
              <a:rPr lang="en-US" sz="1900" b="0" dirty="0">
                <a:solidFill>
                  <a:srgbClr val="222222"/>
                </a:solidFill>
                <a:latin typeface="Liberation Mono"/>
                <a:cs typeface="Liberation Mono"/>
              </a:rPr>
              <a:t>counts</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packed_experts</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1" dirty="0">
                <a:solidFill>
                  <a:srgbClr val="295897"/>
                </a:solidFill>
                <a:latin typeface="Liberation Mono"/>
                <a:cs typeface="Liberation Mono"/>
              </a:rPr>
              <a:t>None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local_expert_ids</a:t>
            </a:r>
            <a:r>
              <a:rPr lang="en-US" sz="1900" b="0" dirty="0">
                <a:solidFill>
                  <a:srgbClr val="222222"/>
                </a:solidFill>
                <a:latin typeface="Liberation Mono"/>
                <a:cs typeface="Liberation Mono"/>
              </a:rPr>
              <a:t>[</a:t>
            </a:r>
            <a:r>
              <a:rPr lang="en-US" sz="1900" b="1" dirty="0">
                <a:solidFill>
                  <a:srgbClr val="295897"/>
                </a:solidFill>
                <a:latin typeface="Liberation Mono"/>
                <a:cs typeface="Liberation Mono"/>
              </a:rPr>
              <a:t>None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&amp;</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packed_valid</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1" dirty="0">
                <a:solidFill>
                  <a:srgbClr val="295897"/>
                </a:solidFill>
                <a:latin typeface="Liberation Mono"/>
                <a:cs typeface="Liberation Mono"/>
              </a:rPr>
              <a:t>None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sum</a:t>
            </a:r>
            <a:r>
              <a:rPr lang="en-US" sz="1900" b="0" dirty="0">
                <a:solidFill>
                  <a:srgbClr val="222222"/>
                </a:solidFill>
                <a:latin typeface="Liberation Mono"/>
                <a:cs typeface="Liberation Mono"/>
              </a:rPr>
              <a:t>(</a:t>
            </a:r>
            <a:r>
              <a:rPr lang="en-US" sz="1900" b="0" dirty="0">
                <a:solidFill>
                  <a:srgbClr val="1A6E6F"/>
                </a:solidFill>
                <a:latin typeface="Liberation Mono"/>
                <a:cs typeface="Liberation Mono"/>
              </a:rPr>
              <a:t>0</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offsets</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torch</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cumsum</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counts</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1A6E6F"/>
                </a:solidFill>
                <a:latin typeface="Liberation Mono"/>
                <a:cs typeface="Liberation Mono"/>
              </a:rPr>
              <a:t>0</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dtype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torch</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int32</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packed_output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torch</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nn</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functional</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grouped_mm</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packed_tokens</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local_weights</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transpose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r>
              <a:rPr lang="en-US" sz="1900" b="0" dirty="0">
                <a:solidFill>
                  <a:srgbClr val="1A6E6F"/>
                </a:solidFill>
                <a:latin typeface="Liberation Mono"/>
                <a:cs typeface="Liberation Mono"/>
              </a:rPr>
              <a:t>2</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1A6E6F"/>
                </a:solidFill>
                <a:latin typeface="Liberation Mono"/>
                <a:cs typeface="Liberation Mono"/>
              </a:rPr>
              <a:t>1</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offs</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offsets</a:t>
            </a:r>
            <a:r>
              <a:rPr lang="en-US" sz="1900" b="0" dirty="0">
                <a:solidFill>
                  <a:srgbClr val="222222"/>
                </a:solidFill>
                <a:latin typeface="Liberation Mono"/>
                <a:cs typeface="Liberation Mono"/>
              </a:rPr>
              <a:t>)</a:t>
            </a:r>
            <a:endParaRPr lang="en-US" sz="1900" dirty="0"/>
          </a:p>
        </p:txBody>
      </p:sp>
      <p:sp>
        <p:nvSpPr>
          <p:cNvPr id="122" name="MoE loop heading"/>
          <p:cNvSpPr txBox="1"/>
          <p:nvPr/>
        </p:nvSpPr>
        <p:spPr>
          <a:xfrm>
            <a:off x="22098000" y="19913600"/>
            <a:ext cx="10210800" cy="333375"/>
          </a:xfrm>
          <a:prstGeom prst="rect">
            <a:avLst/>
          </a:prstGeom>
          <a:noFill/>
        </p:spPr>
        <p:txBody>
          <a:bodyPr wrap="none" lIns="0" tIns="0" rIns="0" bIns="0" anchor="t">
            <a:noAutofit/>
          </a:bodyPr>
          <a:lstStyle/>
          <a:p>
            <a:pPr marL="0" indent="0" algn="l">
              <a:buNone/>
            </a:pPr>
            <a:r>
              <a:rPr lang="en-US" sz="2100" b="1" dirty="0">
                <a:solidFill>
                  <a:srgbClr val="222222"/>
                </a:solidFill>
                <a:latin typeface="Arial"/>
                <a:cs typeface="Arial"/>
              </a:rPr>
              <a:t>3. Repeat bounded all-to-all rounds on the GPU</a:t>
            </a:r>
            <a:endParaRPr lang="en-US" sz="2100" dirty="0"/>
          </a:p>
        </p:txBody>
      </p:sp>
      <p:sp>
        <p:nvSpPr>
          <p:cNvPr id="123" name="Code: MoE while loop highlight"/>
          <p:cNvSpPr/>
          <p:nvPr/>
        </p:nvSpPr>
        <p:spPr>
          <a:xfrm>
            <a:off x="21996400" y="20332700"/>
            <a:ext cx="10414000" cy="304800"/>
          </a:xfrm>
          <a:prstGeom prst="rect">
            <a:avLst/>
          </a:prstGeom>
          <a:solidFill>
            <a:srgbClr val="FEF1C8"/>
          </a:solidFill>
          <a:ln>
            <a:noFill/>
          </a:ln>
        </p:spPr>
      </p:sp>
      <p:sp>
        <p:nvSpPr>
          <p:cNvPr id="124" name="Code: MoE while loop marker"/>
          <p:cNvSpPr/>
          <p:nvPr/>
        </p:nvSpPr>
        <p:spPr>
          <a:xfrm>
            <a:off x="21996400" y="20332700"/>
            <a:ext cx="38100" cy="304800"/>
          </a:xfrm>
          <a:prstGeom prst="rect">
            <a:avLst/>
          </a:prstGeom>
          <a:solidFill>
            <a:srgbClr val="C44918"/>
          </a:solidFill>
          <a:ln>
            <a:noFill/>
          </a:ln>
        </p:spPr>
      </p:sp>
      <p:sp>
        <p:nvSpPr>
          <p:cNvPr id="125" name="Code: MoE while loop"/>
          <p:cNvSpPr txBox="1"/>
          <p:nvPr/>
        </p:nvSpPr>
        <p:spPr>
          <a:xfrm>
            <a:off x="22098000" y="20345400"/>
            <a:ext cx="10210800" cy="876300"/>
          </a:xfrm>
          <a:prstGeom prst="rect">
            <a:avLst/>
          </a:prstGeom>
          <a:noFill/>
        </p:spPr>
        <p:txBody>
          <a:bodyPr wrap="none" lIns="0" tIns="0" rIns="0" bIns="0" anchor="t">
            <a:noAutofit/>
          </a:bodyPr>
          <a:lstStyle/>
          <a:p>
            <a:pPr marL="0" indent="0" algn="l">
              <a:lnSpc>
                <a:spcPts val="2300"/>
              </a:lnSpc>
              <a:buNone/>
            </a:pPr>
            <a:r>
              <a:rPr lang="en-US" sz="1900" b="0" dirty="0">
                <a:solidFill>
                  <a:srgbClr val="222222"/>
                </a:solidFill>
                <a:latin typeface="Liberation Mono"/>
                <a:cs typeface="Liberation Mono"/>
              </a:rPr>
              <a:t>iteration</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_</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output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1" dirty="0">
                <a:solidFill>
                  <a:srgbClr val="C44918"/>
                </a:solidFill>
                <a:latin typeface="Liberation Mono"/>
                <a:cs typeface="Liberation Mono"/>
              </a:rPr>
              <a:t>torch</a:t>
            </a:r>
            <a:r>
              <a:rPr lang="en-US" sz="1900" b="1" dirty="0">
                <a:solidFill>
                  <a:srgbClr val="C44918"/>
                </a:solidFill>
                <a:latin typeface="Liberation Mono"/>
                <a:cs typeface="Liberation Mono"/>
              </a:rPr>
              <a:t>.</a:t>
            </a:r>
            <a:r>
              <a:rPr lang="en-US" sz="1900" b="1" dirty="0">
                <a:solidFill>
                  <a:srgbClr val="C44918"/>
                </a:solidFill>
                <a:latin typeface="Liberation Mono"/>
                <a:cs typeface="Liberation Mono"/>
              </a:rPr>
              <a:t>while_loop</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cond</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body</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iteration</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done</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output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a:t>
            </a:r>
            <a:endParaRPr lang="en-US" sz="1900" dirty="0"/>
          </a:p>
          <a:p>
            <a:pPr marL="0" indent="0" algn="l">
              <a:lnSpc>
                <a:spcPts val="2300"/>
              </a:lnSpc>
              <a:buNone/>
            </a:pPr>
            <a:r>
              <a:rPr lang="en-US" sz="1900" b="1" dirty="0">
                <a:solidFill>
                  <a:srgbClr val="295897"/>
                </a:solidFill>
                <a:latin typeface="Liberation Mono"/>
                <a:cs typeface="Liberation Mono"/>
              </a:rPr>
              <a:t>return</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output</a:t>
            </a:r>
            <a:r>
              <a:rPr lang="en-US" sz="1900" b="0" dirty="0">
                <a:solidFill>
                  <a:srgbClr val="222222"/>
                </a:solidFill>
                <a:latin typeface="Liberation Mono"/>
                <a:cs typeface="Liberation Mono"/>
              </a:rPr>
              <a:t>,</a:t>
            </a:r>
            <a:r>
              <a:rPr lang="en-US" sz="1900" b="0" dirty="0">
                <a:solidFill>
                  <a:srgbClr val="222222"/>
                </a:solidFill>
                <a:latin typeface="Liberation Mono"/>
                <a:cs typeface="Liberation Mono"/>
              </a:rPr>
              <a:t> </a:t>
            </a:r>
            <a:r>
              <a:rPr lang="en-US" sz="1900" b="0" dirty="0">
                <a:solidFill>
                  <a:srgbClr val="222222"/>
                </a:solidFill>
                <a:latin typeface="Liberation Mono"/>
                <a:cs typeface="Liberation Mono"/>
              </a:rPr>
              <a:t>iteration</a:t>
            </a:r>
            <a:endParaRPr lang="en-US" sz="1900" dirty="0"/>
          </a:p>
        </p:txBody>
      </p:sp>
      <p:sp>
        <p:nvSpPr>
          <p:cNvPr id="126" name="Divider"/>
          <p:cNvSpPr/>
          <p:nvPr/>
        </p:nvSpPr>
        <p:spPr>
          <a:xfrm>
            <a:off x="21831300" y="12344400"/>
            <a:ext cx="12700" cy="9245600"/>
          </a:xfrm>
          <a:prstGeom prst="rect">
            <a:avLst/>
          </a:prstGeom>
          <a:solidFill>
            <a:srgbClr val="D5D4D5"/>
          </a:solid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295897"/>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1601-01-01T00:00:00Z</dcterms:created>
  <dc:title>Shape-Stable Dynamic Control Flow in PyTorch CUDA Graphs</dc:title>
  <dc:creator>Daniel Galvez; Thomas Ortner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
    <vt:lpwstr>1</vt:lpwstr>
  </property>
  <property fmtid="{D5CDD505-2E9C-101B-9397-08002B2CF9AE}" pid="3" name="SecurityClass">
    <vt:lpwstr>Confidential</vt:lpwstr>
  </property>
  <property fmtid="{D5CDD505-2E9C-101B-9397-08002B2CF9AE}" pid="4" name="Prepared">
    <vt:lpwstr/>
  </property>
  <property fmtid="{D5CDD505-2E9C-101B-9397-08002B2CF9AE}" pid="5" name="Checked">
    <vt:lpwstr/>
  </property>
  <property fmtid="{D5CDD505-2E9C-101B-9397-08002B2CF9AE}" pid="6" name="Date">
    <vt:lpwstr>8/26/2014</vt:lpwstr>
  </property>
  <property fmtid="{D5CDD505-2E9C-101B-9397-08002B2CF9AE}" pid="7" name="Revision">
    <vt:lpwstr>PA1</vt:lpwstr>
  </property>
  <property fmtid="{D5CDD505-2E9C-101B-9397-08002B2CF9AE}" pid="8" name="Title">
    <vt:lpwstr/>
  </property>
  <property fmtid="{D5CDD505-2E9C-101B-9397-08002B2CF9AE}" pid="9" name="DocName">
    <vt:lpwstr/>
  </property>
  <property fmtid="{D5CDD505-2E9C-101B-9397-08002B2CF9AE}" pid="10" name="DocNo">
    <vt:lpwstr/>
  </property>
  <property fmtid="{D5CDD505-2E9C-101B-9397-08002B2CF9AE}" pid="11" name="ApprovedBy">
    <vt:lpwstr/>
  </property>
  <property fmtid="{D5CDD505-2E9C-101B-9397-08002B2CF9AE}" pid="12" name="Reference">
    <vt:lpwstr/>
  </property>
  <property fmtid="{D5CDD505-2E9C-101B-9397-08002B2CF9AE}" pid="13" name="Keyword">
    <vt:lpwstr/>
  </property>
  <property fmtid="{D5CDD505-2E9C-101B-9397-08002B2CF9AE}" pid="14" name="LeftFooterField">
    <vt:lpwstr>DocNo</vt:lpwstr>
  </property>
  <property fmtid="{D5CDD505-2E9C-101B-9397-08002B2CF9AE}" pid="15" name="RightFooterField">
    <vt:lpwstr>Title</vt:lpwstr>
  </property>
  <property fmtid="{D5CDD505-2E9C-101B-9397-08002B2CF9AE}" pid="16" name="MiddleFooterField">
    <vt:lpwstr>Date</vt:lpwstr>
  </property>
  <property fmtid="{D5CDD505-2E9C-101B-9397-08002B2CF9AE}" pid="17" name="SecClassViewType">
    <vt:lpwstr>False</vt:lpwstr>
  </property>
  <property fmtid="{D5CDD505-2E9C-101B-9397-08002B2CF9AE}" pid="18" name="FooterType">
    <vt:lpwstr>CVL</vt:lpwstr>
  </property>
  <property fmtid="{D5CDD505-2E9C-101B-9397-08002B2CF9AE}" pid="19" name="DocumentType">
    <vt:lpwstr/>
  </property>
  <property fmtid="{D5CDD505-2E9C-101B-9397-08002B2CF9AE}" pid="20" name="TemplateName">
    <vt:lpwstr/>
  </property>
  <property fmtid="{D5CDD505-2E9C-101B-9397-08002B2CF9AE}" pid="21" name="TemplateVersion">
    <vt:lpwstr/>
  </property>
  <property fmtid="{D5CDD505-2E9C-101B-9397-08002B2CF9AE}" pid="22" name="TotalNumb">
    <vt:lpwstr>False</vt:lpwstr>
  </property>
</Properties>
</file>