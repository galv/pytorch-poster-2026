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custom-properties+xml" PartName="/docProps/custom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</p:sldIdLst>
  <p:sldSz cy="21945600" cx="329184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913">
          <p15:clr>
            <a:srgbClr val="A4A3A4"/>
          </p15:clr>
        </p15:guide>
        <p15:guide id="2" pos="10370">
          <p15:clr>
            <a:srgbClr val="A4A3A4"/>
          </p15:clr>
        </p15:guide>
      </p15:sldGuideLst>
    </p:ext>
    <p:ext uri="{2D200454-40CA-4A62-9FC3-DE9A4176ACB9}">
      <p15:notesGuideLst>
        <p15:guide id="1" orient="horz" pos="3033">
          <p15:clr>
            <a:srgbClr val="A4A3A4"/>
          </p15:clr>
        </p15:guide>
        <p15:guide id="2" pos="2554">
          <p15:clr>
            <a:srgbClr val="A4A3A4"/>
          </p15:clr>
        </p15:guide>
      </p15:notesGuideLst>
    </p:ext>
    <p:ext uri="GoogleSlidesCustomDataVersion2">
      <go:slidesCustomData xmlns:go="http://customooxmlschemas.google.com/" r:id="rId7" roundtripDataSignature="AMtx7mi7bKGiPeGRMSylRx4qZwARA8lcO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913" orient="horz"/>
        <p:guide pos="10370"/>
      </p:guideLst>
    </p:cSldViewPr>
  </p:slideViewPr>
  <p:notesViewPr>
    <p:cSldViewPr snapToGrid="0">
      <p:cViewPr varScale="1">
        <p:scale>
          <a:sx n="100" d="100"/>
          <a:sy n="100" d="100"/>
        </p:scale>
        <p:origin x="0" y="0"/>
      </p:cViewPr>
      <p:guideLst>
        <p:guide pos="3033" orient="horz"/>
        <p:guide pos="2554"/>
      </p:guideLst>
    </p:cSldViewPr>
  </p:notes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" name="Google Shape;4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" name="Google Shape;5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" name="Google Shape;6;n"/>
          <p:cNvSpPr/>
          <p:nvPr/>
        </p:nvSpPr>
        <p:spPr>
          <a:xfrm>
            <a:off x="0" y="0"/>
            <a:ext cx="6858000" cy="9144000"/>
          </a:xfrm>
          <a:prstGeom prst="roundRect">
            <a:avLst>
              <a:gd fmla="val 23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Times New Roman"/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" name="Google Shape;7;n"/>
          <p:cNvSpPr txBox="1"/>
          <p:nvPr>
            <p:ph idx="2" type="hdr"/>
          </p:nvPr>
        </p:nvSpPr>
        <p:spPr>
          <a:xfrm>
            <a:off x="0" y="0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n"/>
          <p:cNvSpPr txBox="1"/>
          <p:nvPr>
            <p:ph idx="10" type="dt"/>
          </p:nvPr>
        </p:nvSpPr>
        <p:spPr>
          <a:xfrm>
            <a:off x="3884613" y="0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lv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n"/>
          <p:cNvSpPr/>
          <p:nvPr>
            <p:ph idx="3" type="sldImg"/>
          </p:nvPr>
        </p:nvSpPr>
        <p:spPr>
          <a:xfrm>
            <a:off x="859251" y="685800"/>
            <a:ext cx="5133000" cy="34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0" name="Google Shape;10;n"/>
          <p:cNvSpPr txBox="1"/>
          <p:nvPr>
            <p:ph idx="1" type="body"/>
          </p:nvPr>
        </p:nvSpPr>
        <p:spPr>
          <a:xfrm>
            <a:off x="685800" y="4343400"/>
            <a:ext cx="5480050" cy="4108450"/>
          </a:xfrm>
          <a:prstGeom prst="rect">
            <a:avLst/>
          </a:prstGeom>
          <a:noFill/>
          <a:ln>
            <a:noFill/>
          </a:ln>
        </p:spPr>
        <p:txBody>
          <a:bodyPr anchorCtr="0" anchor="t" bIns="46800" lIns="90000" spcFirstLastPara="1" rIns="90000" wrap="square" tIns="46800">
            <a:noAutofit/>
          </a:bodyPr>
          <a:lstStyle>
            <a:lvl1pPr indent="-228600" lvl="0" marL="4572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1pPr>
            <a:lvl2pPr indent="-228600" lvl="1" marL="9144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2pPr>
            <a:lvl3pPr indent="-228600" lvl="2" marL="13716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3pPr>
            <a:lvl4pPr indent="-228600" lvl="3" marL="18288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4pPr>
            <a:lvl5pPr indent="-228600" lvl="4" marL="2286000" marR="0" rtl="0" algn="l">
              <a:lnSpc>
                <a:spcPct val="100000"/>
              </a:lnSpc>
              <a:spcBef>
                <a:spcPts val="1163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rgbClr val="000000"/>
                </a:solidFill>
                <a:latin typeface="Times New Roman"/>
                <a:ea typeface="Times New Roman"/>
                <a:cs typeface="Times New Roman"/>
                <a:sym typeface="Times New Roman"/>
              </a:defRPr>
            </a:lvl5pPr>
            <a:lvl6pPr indent="-2286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3875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1" name="Google Shape;11;n"/>
          <p:cNvSpPr txBox="1"/>
          <p:nvPr>
            <p:ph idx="11" type="ftr"/>
          </p:nvPr>
        </p:nvSpPr>
        <p:spPr>
          <a:xfrm>
            <a:off x="0" y="8685213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  <a:defRPr b="0" i="0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2" name="Google Shape;12;n"/>
          <p:cNvSpPr txBox="1"/>
          <p:nvPr>
            <p:ph idx="12" type="sldNum"/>
          </p:nvPr>
        </p:nvSpPr>
        <p:spPr>
          <a:xfrm>
            <a:off x="3884613" y="8685213"/>
            <a:ext cx="2965450" cy="450850"/>
          </a:xfrm>
          <a:prstGeom prst="rect">
            <a:avLst/>
          </a:prstGeom>
          <a:noFill/>
          <a:ln>
            <a:noFill/>
          </a:ln>
        </p:spPr>
        <p:txBody>
          <a:bodyPr anchorCtr="0" anchor="b" bIns="46800" lIns="90000" spcFirstLastPara="1" rIns="90000" wrap="square" tIns="46800">
            <a:noAutofit/>
          </a:bodyPr>
          <a:lstStyle/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Times New Roman"/>
              <a:buNone/>
            </a:pPr>
            <a:fld id="{00000000-1234-1234-1234-123412341234}" type="slidenum">
              <a:rPr b="0" i="0" lang="en-GB" sz="12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1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1:notes"/>
          <p:cNvSpPr txBox="1"/>
          <p:nvPr>
            <p:ph idx="1" type="body"/>
          </p:nvPr>
        </p:nvSpPr>
        <p:spPr>
          <a:xfrm>
            <a:off x="685800" y="4343400"/>
            <a:ext cx="5480050" cy="4108450"/>
          </a:xfrm>
          <a:prstGeom prst="rect">
            <a:avLst/>
          </a:prstGeom>
        </p:spPr>
        <p:txBody>
          <a:bodyPr anchorCtr="0" anchor="t" bIns="46800" lIns="90000" spcFirstLastPara="1" rIns="90000" wrap="square" tIns="46800">
            <a:noAutofit/>
          </a:bodyPr>
          <a:lstStyle/>
          <a:p>
            <a:pPr indent="0" lvl="0" marL="0" rtl="0" algn="l">
              <a:spcBef>
                <a:spcPts val="1163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1:notes"/>
          <p:cNvSpPr/>
          <p:nvPr>
            <p:ph idx="2" type="sldImg"/>
          </p:nvPr>
        </p:nvSpPr>
        <p:spPr>
          <a:xfrm>
            <a:off x="859251" y="685800"/>
            <a:ext cx="5133000" cy="34227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4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275" lIns="102450" spcFirstLastPara="1" rIns="102450" wrap="square" tIns="53275">
            <a:noAutofit/>
          </a:bodyPr>
          <a:lstStyle>
            <a:lvl1pPr lvl="0" marR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83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6912">
          <p15:clr>
            <a:srgbClr val="FBAE40"/>
          </p15:clr>
        </p15:guide>
        <p15:guide id="2" pos="10367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slideLayout" Target="../slideLayouts/slideLayout1.xml"/><Relationship Id="rId4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Google Shape;14;p2" title="pytorchcon_na26_postertemplate-01.png"/>
          <p:cNvPicPr preferRelativeResize="0"/>
          <p:nvPr/>
        </p:nvPicPr>
        <p:blipFill rotWithShape="1">
          <a:blip r:embed="rId1">
            <a:alphaModFix/>
          </a:blip>
          <a:srcRect b="30" l="0" r="0" t="30"/>
          <a:stretch/>
        </p:blipFill>
        <p:spPr>
          <a:xfrm>
            <a:off x="-28782" y="1"/>
            <a:ext cx="32947195" cy="21945600"/>
          </a:xfrm>
          <a:prstGeom prst="rect">
            <a:avLst/>
          </a:prstGeom>
          <a:noFill/>
          <a:ln>
            <a:noFill/>
          </a:ln>
        </p:spPr>
      </p:pic>
      <p:sp>
        <p:nvSpPr>
          <p:cNvPr id="15" name="Google Shape;15;p2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53275" lIns="102450" spcFirstLastPara="1" rIns="102450" wrap="square" tIns="53275">
            <a:noAutofit/>
          </a:bodyPr>
          <a:lstStyle>
            <a:lvl1pPr lv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83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ctr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14911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6" name="Google Shape;16;p2"/>
          <p:cNvSpPr txBox="1"/>
          <p:nvPr>
            <p:ph idx="1" type="body"/>
          </p:nvPr>
        </p:nvSpPr>
        <p:spPr>
          <a:xfrm>
            <a:off x="1645925" y="5852165"/>
            <a:ext cx="27903900" cy="127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indent="-228600" lvl="0" marL="457200" marR="0" rtl="0" algn="l">
              <a:lnSpc>
                <a:spcPct val="81000"/>
              </a:lnSpc>
              <a:spcBef>
                <a:spcPts val="2711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8195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28600" lvl="1" marL="914400" marR="0" rtl="0" algn="l">
              <a:lnSpc>
                <a:spcPct val="81000"/>
              </a:lnSpc>
              <a:spcBef>
                <a:spcPts val="237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7512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28600" lvl="2" marL="1371600" marR="0" rtl="0" algn="l">
              <a:lnSpc>
                <a:spcPct val="81000"/>
              </a:lnSpc>
              <a:spcBef>
                <a:spcPts val="2033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14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28600" lvl="3" marL="18288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50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28600" lvl="4" marL="22860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5008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28600" lvl="5" marL="27432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28600" lvl="6" marL="32004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28600" lvl="7" marL="36576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28600" lvl="8" marL="4114800" marR="0" rtl="0" algn="l">
              <a:lnSpc>
                <a:spcPct val="81000"/>
              </a:lnSpc>
              <a:spcBef>
                <a:spcPts val="1692"/>
              </a:spcBef>
              <a:spcAft>
                <a:spcPts val="0"/>
              </a:spcAft>
              <a:buClr>
                <a:srgbClr val="000000"/>
              </a:buClr>
              <a:buSzPts val="1594"/>
              <a:buFont typeface="Arial"/>
              <a:buNone/>
              <a:defRPr b="0" i="0" sz="6777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7" name="Google Shape;17;p2"/>
          <p:cNvSpPr txBox="1"/>
          <p:nvPr/>
        </p:nvSpPr>
        <p:spPr>
          <a:xfrm>
            <a:off x="10715636" y="21244573"/>
            <a:ext cx="16682100" cy="20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1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21"/>
              <a:buFont typeface="Times New Roman"/>
              <a:buNone/>
            </a:pPr>
            <a:r>
              <a:t/>
            </a:r>
            <a:endParaRPr b="0" i="0" sz="1675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8" name="Google Shape;18;p2" title="pytorchcon_na26_postertemplate-02.png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762900" y="-154674"/>
            <a:ext cx="4882237" cy="3459050"/>
          </a:xfrm>
          <a:prstGeom prst="rect">
            <a:avLst/>
          </a:prstGeom>
          <a:noFill/>
          <a:ln>
            <a:noFill/>
          </a:ln>
        </p:spPr>
      </p:pic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hyperlink" Target="https://github.com/pytorch/pytorch/pull/186056" TargetMode="External"/><Relationship Id="rId4" Type="http://schemas.openxmlformats.org/officeDocument/2006/relationships/hyperlink" Target="https://github.com/pytorch/pytorch/pull/189462" TargetMode="External"/><Relationship Id="rId5" Type="http://schemas.openxmlformats.org/officeDocument/2006/relationships/hyperlink" Target="https://github.com/pytorch/pytorch/pull/189461" TargetMode="External"/><Relationship Id="rId6" Type="http://schemas.openxmlformats.org/officeDocument/2006/relationships/hyperlink" Target="https://github.com/pytorch/pytorch/pull/192098" TargetMode="External"/><Relationship Id="rId7" Type="http://schemas.openxmlformats.org/officeDocument/2006/relationships/hyperlink" Target="https://github.com/pytorch/pytorch/issues/19168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"/>
          <p:cNvSpPr txBox="1"/>
          <p:nvPr>
            <p:ph type="title"/>
          </p:nvPr>
        </p:nvSpPr>
        <p:spPr>
          <a:xfrm>
            <a:off x="6485809" y="0"/>
            <a:ext cx="20855700" cy="3149700"/>
          </a:xfrm>
          <a:prstGeom prst="rect">
            <a:avLst/>
          </a:prstGeom>
          <a:noFill/>
          <a:ln>
            <a:noFill/>
          </a:ln>
        </p:spPr>
        <p:txBody>
          <a:bodyPr wrap="none" lIns="102450" tIns="53275" rIns="102450" bIns="53275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200" b="1" dirty="0">
                <a:solidFill>
                  <a:srgbClr val="FFFFFF"/>
                </a:solidFill>
                <a:latin typeface="Arial"/>
                <a:cs typeface="Arial"/>
              </a:rPr>
              <a:t>Shape-Stable Dynamic Control Flow in PyTorch CUDA Graphs</a:t>
            </a:r>
          </a:p>
          <a:p>
            <a:pPr algn="l">
              <a:lnSpc>
                <a:spcPct val="100000"/>
              </a:lnSpc>
              <a:spcBef>
                <a:spcPts val="1600"/>
              </a:spcBef>
            </a:pP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Daniel Galvez</a:t>
            </a:r>
            <a:r>
              <a:rPr lang="en-US" sz="3200" b="0" dirty="0">
                <a:solidFill>
                  <a:srgbClr val="FFFFFF"/>
                </a:solidFill>
                <a:latin typeface="Arial"/>
                <a:cs typeface="Arial"/>
              </a:rPr>
              <a:t>, NVIDIA</a:t>
            </a:r>
            <a:r>
              <a:rPr lang="en-US" sz="3200" b="1" dirty="0">
                <a:solidFill>
                  <a:srgbClr val="FFFFFF"/>
                </a:solidFill>
                <a:latin typeface="Arial"/>
                <a:cs typeface="Arial"/>
              </a:rPr>
              <a:t>        Thomas Ortner</a:t>
            </a:r>
            <a:r>
              <a:rPr lang="en-US" sz="3200" b="0" dirty="0">
                <a:solidFill>
                  <a:srgbClr val="FFFFFF"/>
                </a:solidFill>
                <a:latin typeface="Arial"/>
                <a:cs typeface="Arial"/>
              </a:rPr>
              <a:t>, IBM Research</a:t>
            </a:r>
          </a:p>
        </p:txBody>
      </p:sp>
      <p:sp>
        <p:nvSpPr>
          <p:cNvPr id="3" name="Lead"/>
          <p:cNvSpPr txBox="1"/>
          <p:nvPr/>
        </p:nvSpPr>
        <p:spPr>
          <a:xfrm>
            <a:off x="609600" y="3378200"/>
            <a:ext cx="31699200" cy="396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500" b="1" dirty="0">
                <a:solidFill>
                  <a:srgbClr val="1A6E6F"/>
                </a:solidFill>
                <a:latin typeface="Arial"/>
                <a:cs typeface="Arial"/>
              </a:rPr>
              <a:t>GPU decisions. Fixed buffer shapes.   </a:t>
            </a:r>
            <a:r>
              <a:rPr lang="en-US" sz="2500" b="0" dirty="0">
                <a:solidFill>
                  <a:srgbClr val="222222"/>
                </a:solidFill>
                <a:latin typeface="Arial"/>
                <a:cs typeface="Arial"/>
              </a:rPr>
              <a:t>Write control flow with torch.cond, torch.while_loop, or torch.switch; PyTorch captures it as CUDA graph conditional nodes.</a:t>
            </a:r>
            <a:endParaRPr lang="en-US" sz="2500" dirty="0"/>
          </a:p>
        </p:txBody>
      </p:sp>
      <p:sp>
        <p:nvSpPr>
          <p:cNvPr id="4" name="Heading Support matrix"/>
          <p:cNvSpPr txBox="1"/>
          <p:nvPr/>
        </p:nvSpPr>
        <p:spPr>
          <a:xfrm>
            <a:off x="609600" y="40386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Support matrix</a:t>
            </a:r>
            <a:endParaRPr lang="en-US" sz="3000" dirty="0"/>
          </a:p>
        </p:txBody>
      </p:sp>
      <p:sp>
        <p:nvSpPr>
          <p:cNvPr id="5" name="Subline Support matrix"/>
          <p:cNvSpPr txBox="1"/>
          <p:nvPr/>
        </p:nvSpPr>
        <p:spPr>
          <a:xfrm>
            <a:off x="609600" y="45720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Control-flow ops and the CUDA graph node each lowers to</a:t>
            </a:r>
            <a:endParaRPr lang="en-US" sz="2100" dirty="0"/>
          </a:p>
        </p:txBody>
      </p:sp>
      <p:sp>
        <p:nvSpPr>
          <p:cNvPr id="6" name="Matrix op cond"/>
          <p:cNvSpPr txBox="1"/>
          <p:nvPr/>
        </p:nvSpPr>
        <p:spPr>
          <a:xfrm>
            <a:off x="4292600" y="52070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cond</a:t>
            </a:r>
            <a:endParaRPr lang="en-US" sz="2300" dirty="0"/>
          </a:p>
        </p:txBody>
      </p:sp>
      <p:sp>
        <p:nvSpPr>
          <p:cNvPr id="7" name="Matrix node cond"/>
          <p:cNvSpPr txBox="1"/>
          <p:nvPr/>
        </p:nvSpPr>
        <p:spPr>
          <a:xfrm>
            <a:off x="4292600" y="5638800"/>
            <a:ext cx="2175933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E6F"/>
                </a:solidFill>
                <a:latin typeface="Arial"/>
                <a:cs typeface="Arial"/>
              </a:rPr>
              <a:t>IF / ELSE</a:t>
            </a:r>
            <a:endParaRPr lang="en-US" sz="1800" dirty="0"/>
          </a:p>
        </p:txBody>
      </p:sp>
      <p:sp>
        <p:nvSpPr>
          <p:cNvPr id="8" name="Matrix op while_loop"/>
          <p:cNvSpPr txBox="1"/>
          <p:nvPr/>
        </p:nvSpPr>
        <p:spPr>
          <a:xfrm>
            <a:off x="6468533" y="52070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while_loop</a:t>
            </a:r>
            <a:endParaRPr lang="en-US" sz="2300" dirty="0"/>
          </a:p>
        </p:txBody>
      </p:sp>
      <p:sp>
        <p:nvSpPr>
          <p:cNvPr id="9" name="Matrix node while_loop"/>
          <p:cNvSpPr txBox="1"/>
          <p:nvPr/>
        </p:nvSpPr>
        <p:spPr>
          <a:xfrm>
            <a:off x="6468533" y="5638800"/>
            <a:ext cx="2175933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E6F"/>
                </a:solidFill>
                <a:latin typeface="Arial"/>
                <a:cs typeface="Arial"/>
              </a:rPr>
              <a:t>WHILE</a:t>
            </a:r>
            <a:endParaRPr lang="en-US" sz="1800" dirty="0"/>
          </a:p>
        </p:txBody>
      </p:sp>
      <p:sp>
        <p:nvSpPr>
          <p:cNvPr id="10" name="Matrix op switch"/>
          <p:cNvSpPr txBox="1"/>
          <p:nvPr/>
        </p:nvSpPr>
        <p:spPr>
          <a:xfrm>
            <a:off x="8644467" y="52070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switch</a:t>
            </a:r>
            <a:endParaRPr lang="en-US" sz="2300" dirty="0"/>
          </a:p>
        </p:txBody>
      </p:sp>
      <p:sp>
        <p:nvSpPr>
          <p:cNvPr id="11" name="Matrix node switch"/>
          <p:cNvSpPr txBox="1"/>
          <p:nvPr/>
        </p:nvSpPr>
        <p:spPr>
          <a:xfrm>
            <a:off x="8644467" y="5638800"/>
            <a:ext cx="2175933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A6E6F"/>
                </a:solidFill>
                <a:latin typeface="Arial"/>
                <a:cs typeface="Arial"/>
              </a:rPr>
              <a:t>SWITCH</a:t>
            </a:r>
            <a:endParaRPr lang="en-US" sz="1800" dirty="0"/>
          </a:p>
        </p:txBody>
      </p:sp>
      <p:sp>
        <p:nvSpPr>
          <p:cNvPr id="12" name="Rule"/>
          <p:cNvSpPr/>
          <p:nvPr/>
        </p:nvSpPr>
        <p:spPr>
          <a:xfrm>
            <a:off x="609600" y="6096000"/>
            <a:ext cx="10210800" cy="2540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13" name="Matrix row PyTorch 2.14"/>
          <p:cNvSpPr txBox="1"/>
          <p:nvPr/>
        </p:nvSpPr>
        <p:spPr>
          <a:xfrm>
            <a:off x="736600" y="6311900"/>
            <a:ext cx="3556000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300" b="0" dirty="0">
                <a:solidFill>
                  <a:srgbClr val="222222"/>
                </a:solidFill>
                <a:latin typeface="Arial"/>
                <a:cs typeface="Arial"/>
              </a:rPr>
              <a:t>PyTorch 2.14</a:t>
            </a:r>
            <a:endParaRPr lang="en-US" sz="2300" dirty="0"/>
          </a:p>
        </p:txBody>
      </p:sp>
      <p:sp>
        <p:nvSpPr>
          <p:cNvPr id="14" name="Tick"/>
          <p:cNvSpPr/>
          <p:nvPr/>
        </p:nvSpPr>
        <p:spPr>
          <a:xfrm>
            <a:off x="5151967" y="62611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15" name="Tick"/>
          <p:cNvSpPr/>
          <p:nvPr/>
        </p:nvSpPr>
        <p:spPr>
          <a:xfrm>
            <a:off x="7327900" y="62611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16" name="Tick"/>
          <p:cNvSpPr/>
          <p:nvPr/>
        </p:nvSpPr>
        <p:spPr>
          <a:xfrm>
            <a:off x="9503833" y="62611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17" name="Matrix shade"/>
          <p:cNvSpPr/>
          <p:nvPr/>
        </p:nvSpPr>
        <p:spPr>
          <a:xfrm>
            <a:off x="609600" y="6858000"/>
            <a:ext cx="10210800" cy="73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18" name="Matrix row CUDA graph support"/>
          <p:cNvSpPr txBox="1"/>
          <p:nvPr/>
        </p:nvSpPr>
        <p:spPr>
          <a:xfrm>
            <a:off x="736600" y="7048500"/>
            <a:ext cx="3556000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300" b="0" dirty="0">
                <a:solidFill>
                  <a:srgbClr val="222222"/>
                </a:solidFill>
                <a:latin typeface="Arial"/>
                <a:cs typeface="Arial"/>
              </a:rPr>
              <a:t>CUDA graph support</a:t>
            </a:r>
            <a:endParaRPr lang="en-US" sz="2300" dirty="0"/>
          </a:p>
        </p:txBody>
      </p:sp>
      <p:sp>
        <p:nvSpPr>
          <p:cNvPr id="19" name="Tick"/>
          <p:cNvSpPr/>
          <p:nvPr/>
        </p:nvSpPr>
        <p:spPr>
          <a:xfrm>
            <a:off x="5151967" y="69977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20" name="Tick"/>
          <p:cNvSpPr/>
          <p:nvPr/>
        </p:nvSpPr>
        <p:spPr>
          <a:xfrm>
            <a:off x="7327900" y="69977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21" name="Barrier leg"/>
          <p:cNvSpPr/>
          <p:nvPr/>
        </p:nvSpPr>
        <p:spPr>
          <a:xfrm>
            <a:off x="9538987" y="7265162"/>
            <a:ext cx="43180" cy="138176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22" name="Barrier leg"/>
          <p:cNvSpPr/>
          <p:nvPr/>
        </p:nvSpPr>
        <p:spPr>
          <a:xfrm>
            <a:off x="9882700" y="7265162"/>
            <a:ext cx="43180" cy="138176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23" name="Barrier board"/>
          <p:cNvSpPr/>
          <p:nvPr/>
        </p:nvSpPr>
        <p:spPr>
          <a:xfrm>
            <a:off x="9430173" y="7049262"/>
            <a:ext cx="604520" cy="2159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24" name="Barrier stripes"/>
          <p:cNvSpPr/>
          <p:nvPr/>
        </p:nvSpPr>
        <p:spPr>
          <a:xfrm>
            <a:off x="9430173" y="7049262"/>
            <a:ext cx="604520" cy="215900"/>
          </a:xfrm>
          <a:custGeom>
            <a:avLst/>
            <a:gdLst/>
            <a:ahLst/>
            <a:cxnLst/>
            <a:rect l="0" t="0" r="r" b="b"/>
            <a:pathLst>
              <a:path w="604520" h="215900">
                <a:moveTo>
                  <a:pt x="0" y="0"/>
                </a:moveTo>
                <a:lnTo>
                  <a:pt x="100753" y="0"/>
                </a:lnTo>
                <a:lnTo>
                  <a:pt x="0" y="100753"/>
                </a:lnTo>
                <a:close/>
              </a:path>
              <a:path w="604520" h="215900">
                <a:moveTo>
                  <a:pt x="201507" y="0"/>
                </a:moveTo>
                <a:lnTo>
                  <a:pt x="302260" y="0"/>
                </a:lnTo>
                <a:lnTo>
                  <a:pt x="86360" y="215900"/>
                </a:lnTo>
                <a:lnTo>
                  <a:pt x="0" y="215900"/>
                </a:lnTo>
                <a:lnTo>
                  <a:pt x="0" y="201507"/>
                </a:lnTo>
                <a:close/>
              </a:path>
              <a:path w="604520" h="215900">
                <a:moveTo>
                  <a:pt x="403013" y="0"/>
                </a:moveTo>
                <a:lnTo>
                  <a:pt x="503767" y="0"/>
                </a:lnTo>
                <a:lnTo>
                  <a:pt x="287867" y="215900"/>
                </a:lnTo>
                <a:lnTo>
                  <a:pt x="187113" y="215900"/>
                </a:lnTo>
                <a:close/>
              </a:path>
              <a:path w="604520" h="215900">
                <a:moveTo>
                  <a:pt x="604520" y="0"/>
                </a:moveTo>
                <a:lnTo>
                  <a:pt x="604520" y="100753"/>
                </a:lnTo>
                <a:lnTo>
                  <a:pt x="489373" y="215900"/>
                </a:lnTo>
                <a:lnTo>
                  <a:pt x="388620" y="215900"/>
                </a:lnTo>
                <a:close/>
              </a:path>
              <a:path w="604520" h="215900">
                <a:moveTo>
                  <a:pt x="604520" y="201507"/>
                </a:moveTo>
                <a:lnTo>
                  <a:pt x="604520" y="215900"/>
                </a:lnTo>
                <a:lnTo>
                  <a:pt x="590127" y="215900"/>
                </a:lnTo>
                <a:close/>
              </a:path>
            </a:pathLst>
          </a:custGeom>
          <a:solidFill>
            <a:srgbClr val="E8710A"/>
          </a:solidFill>
          <a:ln>
            <a:noFill/>
          </a:ln>
        </p:spPr>
      </p:sp>
      <p:sp>
        <p:nvSpPr>
          <p:cNvPr id="25" name="Barrier outline"/>
          <p:cNvSpPr/>
          <p:nvPr/>
        </p:nvSpPr>
        <p:spPr>
          <a:xfrm>
            <a:off x="9430173" y="7049262"/>
            <a:ext cx="604520" cy="215900"/>
          </a:xfrm>
          <a:custGeom>
            <a:avLst/>
            <a:gdLst/>
            <a:ahLst/>
            <a:cxnLst/>
            <a:rect l="0" t="0" r="r" b="b"/>
            <a:pathLst>
              <a:path w="604520" h="215900" fill="none">
                <a:moveTo>
                  <a:pt x="0" y="0"/>
                </a:moveTo>
                <a:lnTo>
                  <a:pt x="604520" y="0"/>
                </a:lnTo>
                <a:lnTo>
                  <a:pt x="604520" y="215900"/>
                </a:lnTo>
                <a:lnTo>
                  <a:pt x="0" y="215900"/>
                </a:lnTo>
                <a:close/>
              </a:path>
            </a:pathLst>
          </a:custGeom>
          <a:noFill/>
          <a:ln w="19050" cap="rnd">
            <a:solidFill>
              <a:srgbClr val="3A3A3A"/>
            </a:solidFill>
            <a:round/>
          </a:ln>
        </p:spPr>
      </p:sp>
      <p:sp>
        <p:nvSpPr>
          <p:cNvPr id="26" name="Matrix row In-place input mutation*"/>
          <p:cNvSpPr txBox="1"/>
          <p:nvPr/>
        </p:nvSpPr>
        <p:spPr>
          <a:xfrm>
            <a:off x="736600" y="7785100"/>
            <a:ext cx="3556000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300" b="0" dirty="0">
                <a:solidFill>
                  <a:srgbClr val="222222"/>
                </a:solidFill>
                <a:latin typeface="Arial"/>
                <a:cs typeface="Arial"/>
              </a:rPr>
              <a:t>In-place input mutation*</a:t>
            </a:r>
            <a:endParaRPr lang="en-US" sz="2300" dirty="0"/>
          </a:p>
        </p:txBody>
      </p:sp>
      <p:sp>
        <p:nvSpPr>
          <p:cNvPr id="27" name="Tick"/>
          <p:cNvSpPr/>
          <p:nvPr/>
        </p:nvSpPr>
        <p:spPr>
          <a:xfrm>
            <a:off x="5151967" y="77343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28" name="Tick"/>
          <p:cNvSpPr/>
          <p:nvPr/>
        </p:nvSpPr>
        <p:spPr>
          <a:xfrm>
            <a:off x="7327900" y="77343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29" name="Tick"/>
          <p:cNvSpPr/>
          <p:nvPr/>
        </p:nvSpPr>
        <p:spPr>
          <a:xfrm>
            <a:off x="9503833" y="77343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30" name="Matrix shade"/>
          <p:cNvSpPr/>
          <p:nvPr/>
        </p:nvSpPr>
        <p:spPr>
          <a:xfrm>
            <a:off x="609600" y="8331200"/>
            <a:ext cx="10210800" cy="736600"/>
          </a:xfrm>
          <a:prstGeom prst="rect">
            <a:avLst/>
          </a:prstGeom>
          <a:solidFill>
            <a:srgbClr val="F4F4F4"/>
          </a:solidFill>
          <a:ln>
            <a:noFill/>
          </a:ln>
        </p:spPr>
      </p:sp>
      <p:sp>
        <p:nvSpPr>
          <p:cNvPr id="31" name="Matrix row Minimum CUDA"/>
          <p:cNvSpPr txBox="1"/>
          <p:nvPr/>
        </p:nvSpPr>
        <p:spPr>
          <a:xfrm>
            <a:off x="736600" y="8521700"/>
            <a:ext cx="3556000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300" b="0" dirty="0">
                <a:solidFill>
                  <a:srgbClr val="222222"/>
                </a:solidFill>
                <a:latin typeface="Arial"/>
                <a:cs typeface="Arial"/>
              </a:rPr>
              <a:t>Minimum CUDA</a:t>
            </a:r>
            <a:endParaRPr lang="en-US" sz="2300" dirty="0"/>
          </a:p>
        </p:txBody>
      </p:sp>
      <p:sp>
        <p:nvSpPr>
          <p:cNvPr id="32" name="Matrix cell Minimum CUDA 0"/>
          <p:cNvSpPr txBox="1"/>
          <p:nvPr/>
        </p:nvSpPr>
        <p:spPr>
          <a:xfrm>
            <a:off x="4292600" y="85217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2222"/>
                </a:solidFill>
                <a:latin typeface="Arial"/>
                <a:cs typeface="Arial"/>
              </a:rPr>
              <a:t>12.4</a:t>
            </a:r>
            <a:endParaRPr lang="en-US" sz="2300" dirty="0"/>
          </a:p>
        </p:txBody>
      </p:sp>
      <p:sp>
        <p:nvSpPr>
          <p:cNvPr id="33" name="Matrix cell Minimum CUDA 1"/>
          <p:cNvSpPr txBox="1"/>
          <p:nvPr/>
        </p:nvSpPr>
        <p:spPr>
          <a:xfrm>
            <a:off x="6468533" y="85217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2222"/>
                </a:solidFill>
                <a:latin typeface="Arial"/>
                <a:cs typeface="Arial"/>
              </a:rPr>
              <a:t>12.4</a:t>
            </a:r>
            <a:endParaRPr lang="en-US" sz="2300" dirty="0"/>
          </a:p>
        </p:txBody>
      </p:sp>
      <p:sp>
        <p:nvSpPr>
          <p:cNvPr id="34" name="Matrix cell Minimum CUDA 2"/>
          <p:cNvSpPr txBox="1"/>
          <p:nvPr/>
        </p:nvSpPr>
        <p:spPr>
          <a:xfrm>
            <a:off x="8644467" y="8521700"/>
            <a:ext cx="2175933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222222"/>
                </a:solidFill>
                <a:latin typeface="Arial"/>
                <a:cs typeface="Arial"/>
              </a:rPr>
              <a:t>12.8</a:t>
            </a:r>
            <a:endParaRPr lang="en-US" sz="2300" dirty="0"/>
          </a:p>
        </p:txBody>
      </p:sp>
      <p:sp>
        <p:nvSpPr>
          <p:cNvPr id="35" name="Matrix row Inductor backend"/>
          <p:cNvSpPr txBox="1"/>
          <p:nvPr/>
        </p:nvSpPr>
        <p:spPr>
          <a:xfrm>
            <a:off x="736600" y="9258300"/>
            <a:ext cx="3556000" cy="3651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300" b="0" dirty="0">
                <a:solidFill>
                  <a:srgbClr val="222222"/>
                </a:solidFill>
                <a:latin typeface="Arial"/>
                <a:cs typeface="Arial"/>
              </a:rPr>
              <a:t>Inductor backend</a:t>
            </a:r>
            <a:endParaRPr lang="en-US" sz="2300" dirty="0"/>
          </a:p>
        </p:txBody>
      </p:sp>
      <p:sp>
        <p:nvSpPr>
          <p:cNvPr id="36" name="Tick"/>
          <p:cNvSpPr/>
          <p:nvPr/>
        </p:nvSpPr>
        <p:spPr>
          <a:xfrm>
            <a:off x="5151967" y="92075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37" name="Tick"/>
          <p:cNvSpPr/>
          <p:nvPr/>
        </p:nvSpPr>
        <p:spPr>
          <a:xfrm>
            <a:off x="7327900" y="92075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38" name="Tick"/>
          <p:cNvSpPr/>
          <p:nvPr/>
        </p:nvSpPr>
        <p:spPr>
          <a:xfrm>
            <a:off x="9503833" y="9207500"/>
            <a:ext cx="457200" cy="457200"/>
          </a:xfrm>
          <a:custGeom>
            <a:avLst/>
            <a:gdLst/>
            <a:ahLst/>
            <a:cxnLst/>
            <a:rect l="0" t="0" r="r" b="b"/>
            <a:pathLst>
              <a:path w="457200" h="457200" fill="none">
                <a:moveTo>
                  <a:pt x="45720" y="251460"/>
                </a:moveTo>
                <a:lnTo>
                  <a:pt x="182880" y="388620"/>
                </a:lnTo>
                <a:lnTo>
                  <a:pt x="420624" y="82296"/>
                </a:lnTo>
              </a:path>
            </a:pathLst>
          </a:custGeom>
          <a:noFill/>
          <a:ln w="68580" cap="rnd">
            <a:solidFill>
              <a:srgbClr val="2E7D32"/>
            </a:solidFill>
            <a:round/>
          </a:ln>
        </p:spPr>
      </p:sp>
      <p:sp>
        <p:nvSpPr>
          <p:cNvPr id="39" name="Rule"/>
          <p:cNvSpPr/>
          <p:nvPr/>
        </p:nvSpPr>
        <p:spPr>
          <a:xfrm>
            <a:off x="609600" y="9804400"/>
            <a:ext cx="10210800" cy="19050"/>
          </a:xfrm>
          <a:prstGeom prst="rect">
            <a:avLst/>
          </a:prstGeom>
          <a:solidFill>
            <a:srgbClr val="222222"/>
          </a:solidFill>
          <a:ln>
            <a:noFill/>
          </a:ln>
        </p:spPr>
      </p:sp>
      <p:sp>
        <p:nvSpPr>
          <p:cNvPr id="40" name="Tick"/>
          <p:cNvSpPr/>
          <p:nvPr/>
        </p:nvSpPr>
        <p:spPr>
          <a:xfrm>
            <a:off x="673100" y="10071100"/>
            <a:ext cx="330200" cy="330200"/>
          </a:xfrm>
          <a:custGeom>
            <a:avLst/>
            <a:gdLst/>
            <a:ahLst/>
            <a:cxnLst/>
            <a:rect l="0" t="0" r="r" b="b"/>
            <a:pathLst>
              <a:path w="330200" h="330200" fill="none">
                <a:moveTo>
                  <a:pt x="33020" y="181610"/>
                </a:moveTo>
                <a:lnTo>
                  <a:pt x="132080" y="280670"/>
                </a:lnTo>
                <a:lnTo>
                  <a:pt x="303784" y="59436"/>
                </a:lnTo>
              </a:path>
            </a:pathLst>
          </a:custGeom>
          <a:noFill/>
          <a:ln w="49530" cap="rnd">
            <a:solidFill>
              <a:srgbClr val="2E7D32"/>
            </a:solidFill>
            <a:round/>
          </a:ln>
        </p:spPr>
      </p:sp>
      <p:sp>
        <p:nvSpPr>
          <p:cNvPr id="41" name="Legend done"/>
          <p:cNvSpPr txBox="1"/>
          <p:nvPr/>
        </p:nvSpPr>
        <p:spPr>
          <a:xfrm>
            <a:off x="1143000" y="10083800"/>
            <a:ext cx="33020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supported in PyTorch 2.14</a:t>
            </a:r>
            <a:endParaRPr lang="en-US" sz="2000" dirty="0"/>
          </a:p>
        </p:txBody>
      </p:sp>
      <p:sp>
        <p:nvSpPr>
          <p:cNvPr id="42" name="Barrier leg"/>
          <p:cNvSpPr/>
          <p:nvPr/>
        </p:nvSpPr>
        <p:spPr>
          <a:xfrm>
            <a:off x="4754270" y="10265918"/>
            <a:ext cx="33020" cy="105664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43" name="Barrier leg"/>
          <p:cNvSpPr/>
          <p:nvPr/>
        </p:nvSpPr>
        <p:spPr>
          <a:xfrm>
            <a:off x="5017110" y="10265918"/>
            <a:ext cx="33020" cy="105664"/>
          </a:xfrm>
          <a:prstGeom prst="rect">
            <a:avLst/>
          </a:prstGeom>
          <a:solidFill>
            <a:srgbClr val="3A3A3A"/>
          </a:solidFill>
          <a:ln>
            <a:noFill/>
          </a:ln>
        </p:spPr>
      </p:sp>
      <p:sp>
        <p:nvSpPr>
          <p:cNvPr id="44" name="Barrier board"/>
          <p:cNvSpPr/>
          <p:nvPr/>
        </p:nvSpPr>
        <p:spPr>
          <a:xfrm>
            <a:off x="4671060" y="10100818"/>
            <a:ext cx="462280" cy="165100"/>
          </a:xfrm>
          <a:prstGeom prst="rect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45" name="Barrier stripes"/>
          <p:cNvSpPr/>
          <p:nvPr/>
        </p:nvSpPr>
        <p:spPr>
          <a:xfrm>
            <a:off x="4671060" y="10100818"/>
            <a:ext cx="462280" cy="165100"/>
          </a:xfrm>
          <a:custGeom>
            <a:avLst/>
            <a:gdLst/>
            <a:ahLst/>
            <a:cxnLst/>
            <a:rect l="0" t="0" r="r" b="b"/>
            <a:pathLst>
              <a:path w="462280" h="165100">
                <a:moveTo>
                  <a:pt x="0" y="0"/>
                </a:moveTo>
                <a:lnTo>
                  <a:pt x="77047" y="0"/>
                </a:lnTo>
                <a:lnTo>
                  <a:pt x="0" y="77047"/>
                </a:lnTo>
                <a:close/>
              </a:path>
              <a:path w="462280" h="165100">
                <a:moveTo>
                  <a:pt x="154093" y="0"/>
                </a:moveTo>
                <a:lnTo>
                  <a:pt x="231140" y="0"/>
                </a:lnTo>
                <a:lnTo>
                  <a:pt x="66040" y="165100"/>
                </a:lnTo>
                <a:lnTo>
                  <a:pt x="0" y="165100"/>
                </a:lnTo>
                <a:lnTo>
                  <a:pt x="0" y="154093"/>
                </a:lnTo>
                <a:close/>
              </a:path>
              <a:path w="462280" h="165100">
                <a:moveTo>
                  <a:pt x="308187" y="0"/>
                </a:moveTo>
                <a:lnTo>
                  <a:pt x="385233" y="0"/>
                </a:lnTo>
                <a:lnTo>
                  <a:pt x="220133" y="165100"/>
                </a:lnTo>
                <a:lnTo>
                  <a:pt x="143087" y="165100"/>
                </a:lnTo>
                <a:close/>
              </a:path>
              <a:path w="462280" h="165100">
                <a:moveTo>
                  <a:pt x="462280" y="0"/>
                </a:moveTo>
                <a:lnTo>
                  <a:pt x="462280" y="77047"/>
                </a:lnTo>
                <a:lnTo>
                  <a:pt x="374227" y="165100"/>
                </a:lnTo>
                <a:lnTo>
                  <a:pt x="297180" y="165100"/>
                </a:lnTo>
                <a:close/>
              </a:path>
              <a:path w="462280" h="165100">
                <a:moveTo>
                  <a:pt x="462280" y="154093"/>
                </a:moveTo>
                <a:lnTo>
                  <a:pt x="462280" y="165100"/>
                </a:lnTo>
                <a:lnTo>
                  <a:pt x="451273" y="165100"/>
                </a:lnTo>
                <a:close/>
              </a:path>
            </a:pathLst>
          </a:custGeom>
          <a:solidFill>
            <a:srgbClr val="E8710A"/>
          </a:solidFill>
          <a:ln>
            <a:noFill/>
          </a:ln>
        </p:spPr>
      </p:sp>
      <p:sp>
        <p:nvSpPr>
          <p:cNvPr id="46" name="Barrier outline"/>
          <p:cNvSpPr/>
          <p:nvPr/>
        </p:nvSpPr>
        <p:spPr>
          <a:xfrm>
            <a:off x="4671060" y="10100818"/>
            <a:ext cx="462280" cy="165100"/>
          </a:xfrm>
          <a:custGeom>
            <a:avLst/>
            <a:gdLst/>
            <a:ahLst/>
            <a:cxnLst/>
            <a:rect l="0" t="0" r="r" b="b"/>
            <a:pathLst>
              <a:path w="462280" h="165100" fill="none">
                <a:moveTo>
                  <a:pt x="0" y="0"/>
                </a:moveTo>
                <a:lnTo>
                  <a:pt x="462280" y="0"/>
                </a:lnTo>
                <a:lnTo>
                  <a:pt x="462280" y="165100"/>
                </a:lnTo>
                <a:lnTo>
                  <a:pt x="0" y="165100"/>
                </a:lnTo>
                <a:close/>
              </a:path>
            </a:pathLst>
          </a:custGeom>
          <a:noFill/>
          <a:ln w="19050" cap="rnd">
            <a:solidFill>
              <a:srgbClr val="3A3A3A"/>
            </a:solidFill>
            <a:round/>
          </a:ln>
        </p:spPr>
      </p:sp>
      <p:sp>
        <p:nvSpPr>
          <p:cNvPr id="47" name="Legend open"/>
          <p:cNvSpPr txBox="1"/>
          <p:nvPr/>
        </p:nvSpPr>
        <p:spPr>
          <a:xfrm>
            <a:off x="5283200" y="10083800"/>
            <a:ext cx="55372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open PR, or not yet supported</a:t>
            </a:r>
            <a:endParaRPr lang="en-US" sz="2000" dirty="0"/>
          </a:p>
        </p:txBody>
      </p:sp>
      <p:sp>
        <p:nvSpPr>
          <p:cNvPr id="48" name="Matrix note 1"/>
          <p:cNvSpPr txBox="1"/>
          <p:nvPr/>
        </p:nvSpPr>
        <p:spPr>
          <a:xfrm>
            <a:off x="609600" y="10566400"/>
            <a:ext cx="1021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* Inputs mutated in place under torch.no_grad() or torch.inference_mode().</a:t>
            </a:r>
            <a:endParaRPr lang="en-US" sz="1800" dirty="0"/>
          </a:p>
        </p:txBody>
      </p:sp>
      <p:sp>
        <p:nvSpPr>
          <p:cNvPr id="49" name="Matrix note 2"/>
          <p:cNvSpPr txBox="1"/>
          <p:nvPr/>
        </p:nvSpPr>
        <p:spPr>
          <a:xfrm>
            <a:off x="609600" y="10883900"/>
            <a:ext cx="1021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switch is torch._higher_order_ops.switch; CUDA graph capture needs #189461.</a:t>
            </a:r>
            <a:endParaRPr lang="en-US" sz="1800" dirty="0"/>
          </a:p>
        </p:txBody>
      </p:sp>
      <p:sp>
        <p:nvSpPr>
          <p:cNvPr id="50" name="Matrix note 3"/>
          <p:cNvSpPr txBox="1"/>
          <p:nvPr/>
        </p:nvSpPr>
        <p:spPr>
          <a:xfrm>
            <a:off x="609600" y="11201400"/>
            <a:ext cx="1021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Inductor runs the control flow on the host; it emits no conditional nodes yet.</a:t>
            </a:r>
            <a:endParaRPr lang="en-US" sz="1800" dirty="0"/>
          </a:p>
        </p:txBody>
      </p:sp>
      <p:sp>
        <p:nvSpPr>
          <p:cNvPr id="51" name="Matrix note 4"/>
          <p:cNvSpPr txBox="1"/>
          <p:nvPr/>
        </p:nvSpPr>
        <p:spPr>
          <a:xfrm>
            <a:off x="609600" y="11518900"/>
            <a:ext cx="102108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Checked on PyTorch main (91a0eda); every feature above is in 2.14.</a:t>
            </a:r>
            <a:endParaRPr lang="en-US" sz="1800" dirty="0"/>
          </a:p>
        </p:txBody>
      </p:sp>
      <p:sp>
        <p:nvSpPr>
          <p:cNvPr id="52" name="Heading Skip non-finite optimizer steps"/>
          <p:cNvSpPr txBox="1"/>
          <p:nvPr/>
        </p:nvSpPr>
        <p:spPr>
          <a:xfrm>
            <a:off x="11353800" y="40386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E6F"/>
                </a:solidFill>
                <a:latin typeface="Arial"/>
                <a:cs typeface="Arial"/>
              </a:rPr>
              <a:t>01  </a:t>
            </a: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Skip non-finite optimizer steps</a:t>
            </a:r>
            <a:endParaRPr lang="en-US" sz="3000" dirty="0"/>
          </a:p>
        </p:txBody>
      </p:sp>
      <p:sp>
        <p:nvSpPr>
          <p:cNvPr id="53" name="Subline Skip non-finite optimizer steps"/>
          <p:cNvSpPr txBox="1"/>
          <p:nvPr/>
        </p:nvSpPr>
        <p:spPr>
          <a:xfrm>
            <a:off x="11353800" y="45720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torch.cond()  →  IF/ELSE conditional node</a:t>
            </a:r>
            <a:endParaRPr lang="en-US" sz="2100" dirty="0"/>
          </a:p>
        </p:txBody>
      </p:sp>
      <p:sp>
        <p:nvSpPr>
          <p:cNvPr id="54" name="Code: safe_sgd highlight"/>
          <p:cNvSpPr/>
          <p:nvPr/>
        </p:nvSpPr>
        <p:spPr>
          <a:xfrm>
            <a:off x="11252200" y="5880100"/>
            <a:ext cx="10414000" cy="393700"/>
          </a:xfrm>
          <a:prstGeom prst="rect">
            <a:avLst/>
          </a:prstGeom>
          <a:solidFill>
            <a:srgbClr val="FEF1C8"/>
          </a:solidFill>
          <a:ln>
            <a:noFill/>
          </a:ln>
        </p:spPr>
      </p:sp>
      <p:sp>
        <p:nvSpPr>
          <p:cNvPr id="55" name="Code: safe_sgd marker"/>
          <p:cNvSpPr/>
          <p:nvPr/>
        </p:nvSpPr>
        <p:spPr>
          <a:xfrm>
            <a:off x="11252200" y="5880100"/>
            <a:ext cx="38100" cy="393700"/>
          </a:xfrm>
          <a:prstGeom prst="rect">
            <a:avLst/>
          </a:prstGeom>
          <a:solidFill>
            <a:srgbClr val="C44918"/>
          </a:solidFill>
          <a:ln>
            <a:noFill/>
          </a:ln>
        </p:spPr>
      </p:sp>
      <p:sp>
        <p:nvSpPr>
          <p:cNvPr id="56" name="Code: safe_sgd"/>
          <p:cNvSpPr txBox="1"/>
          <p:nvPr/>
        </p:nvSpPr>
        <p:spPr>
          <a:xfrm>
            <a:off x="11353800" y="5130800"/>
            <a:ext cx="10210800" cy="30480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300" b="1" dirty="0">
                <a:solidFill>
                  <a:srgbClr val="295897"/>
                </a:solidFill>
                <a:latin typeface="Liberation Mono"/>
                <a:cs typeface="Liberation Mono"/>
              </a:rPr>
              <a:t>def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safe_sgd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param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grad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lr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finite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isfinite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grad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all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300" b="1" dirty="0">
                <a:solidFill>
                  <a:srgbClr val="295897"/>
                </a:solidFill>
                <a:latin typeface="Liberation Mono"/>
                <a:cs typeface="Liberation Mono"/>
              </a:rPr>
              <a:t>return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torch</a:t>
            </a: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.</a:t>
            </a:r>
            <a:r>
              <a:rPr lang="en-US" sz="2300" b="1" dirty="0">
                <a:solidFill>
                  <a:srgbClr val="C44918"/>
                </a:solidFill>
                <a:latin typeface="Liberation Mono"/>
                <a:cs typeface="Liberation Mono"/>
              </a:rPr>
              <a:t>cond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finite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300" b="1" dirty="0">
                <a:solidFill>
                  <a:srgbClr val="295897"/>
                </a:solidFill>
                <a:latin typeface="Liberation Mono"/>
                <a:cs typeface="Liberation Mono"/>
              </a:rPr>
              <a:t>lambda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rate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-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rate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*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300" b="1" dirty="0">
                <a:solidFill>
                  <a:srgbClr val="295897"/>
                </a:solidFill>
                <a:latin typeface="Liberation Mono"/>
                <a:cs typeface="Liberation Mono"/>
              </a:rPr>
              <a:t>lambda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rate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clone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param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grad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lr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endParaRPr lang="en-US" sz="2300" dirty="0"/>
          </a:p>
          <a:p>
            <a:pPr marL="0" indent="0" algn="l">
              <a:lnSpc>
                <a:spcPts val="3000"/>
              </a:lnSpc>
              <a:buNone/>
            </a:pP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3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300" dirty="0"/>
          </a:p>
        </p:txBody>
      </p:sp>
      <p:sp>
        <p:nvSpPr>
          <p:cNvPr id="57" name="Capture label"/>
          <p:cNvSpPr txBox="1"/>
          <p:nvPr/>
        </p:nvSpPr>
        <p:spPr>
          <a:xfrm>
            <a:off x="11353800" y="85090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Capture once, then replay:</a:t>
            </a:r>
            <a:endParaRPr lang="en-US" sz="2100" dirty="0"/>
          </a:p>
        </p:txBody>
      </p:sp>
      <p:sp>
        <p:nvSpPr>
          <p:cNvPr id="58" name="Code: capture"/>
          <p:cNvSpPr txBox="1"/>
          <p:nvPr/>
        </p:nvSpPr>
        <p:spPr>
          <a:xfrm>
            <a:off x="11353800" y="8966200"/>
            <a:ext cx="10210800" cy="6858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step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compile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safe_sgd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backend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"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cudagraphs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"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updated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step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param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grad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lr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</a:t>
            </a:r>
            <a:r>
              <a:rPr lang="en-US" sz="2100" b="0" dirty="0">
                <a:solidFill>
                  <a:srgbClr val="727070"/>
                </a:solidFill>
                <a:latin typeface="Liberation Mono"/>
                <a:cs typeface="Liberation Mono"/>
              </a:rPr>
              <a:t># replays one graph</a:t>
            </a:r>
            <a:endParaRPr lang="en-US" sz="2100" dirty="0"/>
          </a:p>
        </p:txBody>
      </p:sp>
      <p:sp>
        <p:nvSpPr>
          <p:cNvPr id="59" name="Note: cond 1"/>
          <p:cNvSpPr txBox="1"/>
          <p:nvPr/>
        </p:nvSpPr>
        <p:spPr>
          <a:xfrm>
            <a:off x="11353800" y="100076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The predicate never leaves the GPU: no .item(), no CPU sync.</a:t>
            </a:r>
            <a:endParaRPr lang="en-US" sz="2100" dirty="0"/>
          </a:p>
        </p:txBody>
      </p:sp>
      <p:sp>
        <p:nvSpPr>
          <p:cNvPr id="60" name="Note: cond 2"/>
          <p:cNvSpPr txBox="1"/>
          <p:nvPr/>
        </p:nvSpPr>
        <p:spPr>
          <a:xfrm>
            <a:off x="11353800" y="104140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The same graph takes or skips the update on every replay.</a:t>
            </a:r>
            <a:endParaRPr lang="en-US" sz="2100" dirty="0"/>
          </a:p>
        </p:txBody>
      </p:sp>
      <p:sp>
        <p:nvSpPr>
          <p:cNvPr id="61" name="Note: cond 3"/>
          <p:cNvSpPr txBox="1"/>
          <p:nvPr/>
        </p:nvSpPr>
        <p:spPr>
          <a:xfrm>
            <a:off x="11353800" y="108204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Before: a Python if on this flag forces a CPU sync and breaks capture.</a:t>
            </a:r>
            <a:endParaRPr lang="en-US" sz="2100" dirty="0"/>
          </a:p>
        </p:txBody>
      </p:sp>
      <p:sp>
        <p:nvSpPr>
          <p:cNvPr id="62" name="Heading The captured CUDA graph"/>
          <p:cNvSpPr txBox="1"/>
          <p:nvPr/>
        </p:nvSpPr>
        <p:spPr>
          <a:xfrm>
            <a:off x="22098000" y="40386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The captured CUDA graph</a:t>
            </a:r>
            <a:endParaRPr lang="en-US" sz="3000" dirty="0"/>
          </a:p>
        </p:txBody>
      </p:sp>
      <p:sp>
        <p:nvSpPr>
          <p:cNvPr id="63" name="Subline The captured CUDA graph"/>
          <p:cNvSpPr txBox="1"/>
          <p:nvPr/>
        </p:nvSpPr>
        <p:spPr>
          <a:xfrm>
            <a:off x="22098000" y="45720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What safe_sgd becomes: one graph, GPU-side branch</a:t>
            </a:r>
            <a:endParaRPr lang="en-US" sz="2100" dirty="0"/>
          </a:p>
        </p:txBody>
      </p:sp>
      <p:sp>
        <p:nvSpPr>
          <p:cNvPr id="64" name="Kernel: isfinite"/>
          <p:cNvSpPr/>
          <p:nvPr/>
        </p:nvSpPr>
        <p:spPr>
          <a:xfrm>
            <a:off x="24218900" y="5130800"/>
            <a:ext cx="5969000" cy="685800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isfinite(grad).all()</a:t>
            </a:r>
            <a:endParaRPr lang="en-US" sz="2100" dirty="0"/>
          </a:p>
        </p:txBody>
      </p:sp>
      <p:sp>
        <p:nvSpPr>
          <p:cNvPr id="65" name="Note: kernels"/>
          <p:cNvSpPr txBox="1"/>
          <p:nvPr/>
        </p:nvSpPr>
        <p:spPr>
          <a:xfrm>
            <a:off x="30365700" y="5321300"/>
            <a:ext cx="19431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kernel nodes</a:t>
            </a:r>
            <a:endParaRPr lang="en-US" sz="1800" dirty="0"/>
          </a:p>
        </p:txBody>
      </p:sp>
      <p:cxnSp>
        <p:nvCxnSpPr>
          <p:cNvPr id="66" name="Arrow"/>
          <p:cNvCxnSpPr/>
          <p:nvPr/>
        </p:nvCxnSpPr>
        <p:spPr>
          <a:xfrm>
            <a:off x="27203400" y="58166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67" name="Kernel: set handle"/>
          <p:cNvSpPr/>
          <p:nvPr/>
        </p:nvSpPr>
        <p:spPr>
          <a:xfrm>
            <a:off x="24218900" y="6197600"/>
            <a:ext cx="5969000" cy="685800"/>
          </a:xfrm>
          <a:prstGeom prst="roundRect">
            <a:avLst>
              <a:gd name="adj" fmla="val 14815"/>
            </a:avLst>
          </a:prstGeom>
          <a:solidFill>
            <a:srgbClr val="E3EFEF"/>
          </a:solidFill>
          <a:ln w="19050">
            <a:solidFill>
              <a:srgbClr val="1A6E6F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900" b="0" dirty="0">
                <a:solidFill>
                  <a:srgbClr val="222222"/>
                </a:solidFill>
                <a:latin typeface="Liberation Mono"/>
                <a:cs typeface="Liberation Mono"/>
              </a:rPr>
              <a:t>set_conditional(handle, finite)</a:t>
            </a:r>
            <a:endParaRPr lang="en-US" sz="1900" dirty="0"/>
          </a:p>
        </p:txBody>
      </p:sp>
      <p:sp>
        <p:nvSpPr>
          <p:cNvPr id="68" name="Note: handle"/>
          <p:cNvSpPr txBox="1"/>
          <p:nvPr/>
        </p:nvSpPr>
        <p:spPr>
          <a:xfrm>
            <a:off x="30365700" y="6388100"/>
            <a:ext cx="1943100" cy="2857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800" b="0" dirty="0">
                <a:solidFill>
                  <a:srgbClr val="727070"/>
                </a:solidFill>
                <a:latin typeface="Arial"/>
                <a:cs typeface="Arial"/>
              </a:rPr>
              <a:t>1-thread kernel</a:t>
            </a:r>
            <a:endParaRPr lang="en-US" sz="1800" dirty="0"/>
          </a:p>
        </p:txBody>
      </p:sp>
      <p:cxnSp>
        <p:nvCxnSpPr>
          <p:cNvPr id="69" name="Arrow"/>
          <p:cNvCxnSpPr/>
          <p:nvPr/>
        </p:nvCxnSpPr>
        <p:spPr>
          <a:xfrm>
            <a:off x="27203400" y="68834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70" name="IF/ELSE node"/>
          <p:cNvSpPr/>
          <p:nvPr/>
        </p:nvSpPr>
        <p:spPr>
          <a:xfrm>
            <a:off x="22199600" y="7264400"/>
            <a:ext cx="10007600" cy="3200400"/>
          </a:xfrm>
          <a:prstGeom prst="roundRect">
            <a:avLst>
              <a:gd name="adj" fmla="val 5556"/>
            </a:avLst>
          </a:prstGeom>
          <a:solidFill>
            <a:srgbClr val="FFF7E8"/>
          </a:solidFill>
          <a:ln w="38100">
            <a:solidFill>
              <a:srgbClr val="C44918"/>
            </a:solidFill>
            <a:round/>
          </a:ln>
        </p:spPr>
      </p:sp>
      <p:sp>
        <p:nvSpPr>
          <p:cNvPr id="71" name="IF/ELSE node title"/>
          <p:cNvSpPr txBox="1"/>
          <p:nvPr/>
        </p:nvSpPr>
        <p:spPr>
          <a:xfrm>
            <a:off x="22428200" y="7416800"/>
            <a:ext cx="500380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44918"/>
                </a:solidFill>
                <a:latin typeface="Arial"/>
                <a:cs typeface="Arial"/>
              </a:rPr>
              <a:t>IF / ELSE conditional node</a:t>
            </a:r>
            <a:endParaRPr lang="en-US" sz="2200" dirty="0"/>
          </a:p>
        </p:txBody>
      </p:sp>
      <p:sp>
        <p:nvSpPr>
          <p:cNvPr id="72" name="IF/ELSE node handle"/>
          <p:cNvSpPr txBox="1"/>
          <p:nvPr/>
        </p:nvSpPr>
        <p:spPr>
          <a:xfrm>
            <a:off x="27203400" y="7442200"/>
            <a:ext cx="47752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en-US" sz="1900" b="0" dirty="0">
                <a:solidFill>
                  <a:srgbClr val="1A6E6F"/>
                </a:solidFill>
                <a:latin typeface="Liberation Mono"/>
                <a:cs typeface="Liberation Mono"/>
              </a:rPr>
              <a:t>handle = finite</a:t>
            </a:r>
            <a:endParaRPr lang="en-US" sz="1900" dirty="0"/>
          </a:p>
        </p:txBody>
      </p:sp>
      <p:sp>
        <p:nvSpPr>
          <p:cNvPr id="73" name="Body 0"/>
          <p:cNvSpPr/>
          <p:nvPr/>
        </p:nvSpPr>
        <p:spPr>
          <a:xfrm>
            <a:off x="22428200" y="8001000"/>
            <a:ext cx="4660900" cy="21844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9E9E9E"/>
            </a:solidFill>
            <a:round/>
          </a:ln>
        </p:spPr>
      </p:sp>
      <p:sp>
        <p:nvSpPr>
          <p:cNvPr id="74" name="Body 0 label"/>
          <p:cNvSpPr txBox="1"/>
          <p:nvPr/>
        </p:nvSpPr>
        <p:spPr>
          <a:xfrm>
            <a:off x="22631400" y="8178800"/>
            <a:ext cx="42545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Arial"/>
                <a:cs typeface="Arial"/>
              </a:rPr>
              <a:t>body 0: runs if finite</a:t>
            </a:r>
            <a:endParaRPr lang="en-US" sz="1900" dirty="0"/>
          </a:p>
        </p:txBody>
      </p:sp>
      <p:sp>
        <p:nvSpPr>
          <p:cNvPr id="75" name="Body 0 kernel"/>
          <p:cNvSpPr/>
          <p:nvPr/>
        </p:nvSpPr>
        <p:spPr>
          <a:xfrm>
            <a:off x="22631400" y="8788400"/>
            <a:ext cx="4254500" cy="71120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900" b="0" dirty="0">
                <a:solidFill>
                  <a:srgbClr val="222222"/>
                </a:solidFill>
                <a:latin typeface="Liberation Mono"/>
                <a:cs typeface="Liberation Mono"/>
              </a:rPr>
              <a:t>out = p - rate * g</a:t>
            </a:r>
            <a:endParaRPr lang="en-US" sz="1900" dirty="0"/>
          </a:p>
        </p:txBody>
      </p:sp>
      <p:sp>
        <p:nvSpPr>
          <p:cNvPr id="76" name="Body 0 note"/>
          <p:cNvSpPr txBox="1"/>
          <p:nvPr/>
        </p:nvSpPr>
        <p:spPr>
          <a:xfrm>
            <a:off x="22631400" y="9677400"/>
            <a:ext cx="4254500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727070"/>
                </a:solidFill>
                <a:latin typeface="Arial"/>
                <a:cs typeface="Arial"/>
              </a:rPr>
              <a:t>branch kernels</a:t>
            </a:r>
            <a:endParaRPr lang="en-US" sz="1700" dirty="0"/>
          </a:p>
        </p:txBody>
      </p:sp>
      <p:sp>
        <p:nvSpPr>
          <p:cNvPr id="77" name="Body 1"/>
          <p:cNvSpPr/>
          <p:nvPr/>
        </p:nvSpPr>
        <p:spPr>
          <a:xfrm>
            <a:off x="27317700" y="8001000"/>
            <a:ext cx="4660900" cy="2184400"/>
          </a:xfrm>
          <a:prstGeom prst="roundRect">
            <a:avLst>
              <a:gd name="adj" fmla="val 3488"/>
            </a:avLst>
          </a:prstGeom>
          <a:solidFill>
            <a:srgbClr val="FFFFFF"/>
          </a:solidFill>
          <a:ln w="15875">
            <a:solidFill>
              <a:srgbClr val="9E9E9E"/>
            </a:solidFill>
            <a:round/>
          </a:ln>
        </p:spPr>
      </p:sp>
      <p:sp>
        <p:nvSpPr>
          <p:cNvPr id="78" name="Body 1 label"/>
          <p:cNvSpPr txBox="1"/>
          <p:nvPr/>
        </p:nvSpPr>
        <p:spPr>
          <a:xfrm>
            <a:off x="27520900" y="8178800"/>
            <a:ext cx="42545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900" b="1" dirty="0">
                <a:solidFill>
                  <a:srgbClr val="222222"/>
                </a:solidFill>
                <a:latin typeface="Arial"/>
                <a:cs typeface="Arial"/>
              </a:rPr>
              <a:t>body 1: runs otherwise</a:t>
            </a:r>
            <a:endParaRPr lang="en-US" sz="1900" dirty="0"/>
          </a:p>
        </p:txBody>
      </p:sp>
      <p:sp>
        <p:nvSpPr>
          <p:cNvPr id="79" name="Body 1 kernel"/>
          <p:cNvSpPr/>
          <p:nvPr/>
        </p:nvSpPr>
        <p:spPr>
          <a:xfrm>
            <a:off x="27520900" y="8788400"/>
            <a:ext cx="4254500" cy="711200"/>
          </a:xfrm>
          <a:prstGeom prst="roundRect">
            <a:avLst>
              <a:gd name="adj" fmla="val 14286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900" b="0" dirty="0">
                <a:solidFill>
                  <a:srgbClr val="222222"/>
                </a:solidFill>
                <a:latin typeface="Liberation Mono"/>
                <a:cs typeface="Liberation Mono"/>
              </a:rPr>
              <a:t>out.copy_(p.clone())</a:t>
            </a:r>
            <a:endParaRPr lang="en-US" sz="1900" dirty="0"/>
          </a:p>
        </p:txBody>
      </p:sp>
      <p:sp>
        <p:nvSpPr>
          <p:cNvPr id="80" name="Body 1 note"/>
          <p:cNvSpPr txBox="1"/>
          <p:nvPr/>
        </p:nvSpPr>
        <p:spPr>
          <a:xfrm>
            <a:off x="27520900" y="9677400"/>
            <a:ext cx="4254500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700" b="0" dirty="0">
                <a:solidFill>
                  <a:srgbClr val="727070"/>
                </a:solidFill>
                <a:latin typeface="Arial"/>
                <a:cs typeface="Arial"/>
              </a:rPr>
              <a:t>copy into the same out</a:t>
            </a:r>
            <a:endParaRPr lang="en-US" sz="1700" dirty="0"/>
          </a:p>
        </p:txBody>
      </p:sp>
      <p:cxnSp>
        <p:nvCxnSpPr>
          <p:cNvPr id="81" name="Arrow"/>
          <p:cNvCxnSpPr/>
          <p:nvPr/>
        </p:nvCxnSpPr>
        <p:spPr>
          <a:xfrm>
            <a:off x="27203400" y="104648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82" name="Output"/>
          <p:cNvSpPr/>
          <p:nvPr/>
        </p:nvSpPr>
        <p:spPr>
          <a:xfrm>
            <a:off x="23393400" y="10845800"/>
            <a:ext cx="7620000" cy="685800"/>
          </a:xfrm>
          <a:prstGeom prst="roundRect">
            <a:avLst>
              <a:gd name="adj" fmla="val 1481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out: one fixed buffer  →  next kernels</a:t>
            </a:r>
            <a:endParaRPr lang="en-US" sz="2000" dirty="0"/>
          </a:p>
        </p:txBody>
      </p:sp>
      <p:sp>
        <p:nvSpPr>
          <p:cNvPr id="83" name="Divider"/>
          <p:cNvSpPr/>
          <p:nvPr/>
        </p:nvSpPr>
        <p:spPr>
          <a:xfrm>
            <a:off x="11087100" y="4038600"/>
            <a:ext cx="12700" cy="7797800"/>
          </a:xfrm>
          <a:prstGeom prst="rect">
            <a:avLst/>
          </a:prstGeom>
          <a:solidFill>
            <a:srgbClr val="D5D4D5"/>
          </a:solidFill>
          <a:ln>
            <a:noFill/>
          </a:ln>
        </p:spPr>
      </p:sp>
      <p:sp>
        <p:nvSpPr>
          <p:cNvPr id="84" name="Divider"/>
          <p:cNvSpPr/>
          <p:nvPr/>
        </p:nvSpPr>
        <p:spPr>
          <a:xfrm>
            <a:off x="21831300" y="4038600"/>
            <a:ext cx="12700" cy="7797800"/>
          </a:xfrm>
          <a:prstGeom prst="rect">
            <a:avLst/>
          </a:prstGeom>
          <a:solidFill>
            <a:srgbClr val="D5D4D5"/>
          </a:solidFill>
          <a:ln>
            <a:noFill/>
          </a:ln>
        </p:spPr>
      </p:sp>
      <p:sp>
        <p:nvSpPr>
          <p:cNvPr id="85" name="Rule"/>
          <p:cNvSpPr/>
          <p:nvPr/>
        </p:nvSpPr>
        <p:spPr>
          <a:xfrm>
            <a:off x="609600" y="12090400"/>
            <a:ext cx="31699200" cy="254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86" name="Heading Runtime-sized embedding bags"/>
          <p:cNvSpPr txBox="1"/>
          <p:nvPr/>
        </p:nvSpPr>
        <p:spPr>
          <a:xfrm>
            <a:off x="609600" y="123444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E6F"/>
                </a:solidFill>
                <a:latin typeface="Arial"/>
                <a:cs typeface="Arial"/>
              </a:rPr>
              <a:t>02  </a:t>
            </a: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Runtime-sized embedding bags</a:t>
            </a:r>
            <a:endParaRPr lang="en-US" sz="3000" dirty="0"/>
          </a:p>
        </p:txBody>
      </p:sp>
      <p:sp>
        <p:nvSpPr>
          <p:cNvPr id="87" name="Subline Runtime-sized embedding bags"/>
          <p:cNvSpPr txBox="1"/>
          <p:nvPr/>
        </p:nvSpPr>
        <p:spPr>
          <a:xfrm>
            <a:off x="609600" y="128778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torch.while_loop()  →  WHILE conditional node</a:t>
            </a:r>
            <a:endParaRPr lang="en-US" sz="2100" dirty="0"/>
          </a:p>
        </p:txBody>
      </p:sp>
      <p:sp>
        <p:nvSpPr>
          <p:cNvPr id="88" name="Code: embedding_bag highlight"/>
          <p:cNvSpPr/>
          <p:nvPr/>
        </p:nvSpPr>
        <p:spPr>
          <a:xfrm>
            <a:off x="508000" y="16725900"/>
            <a:ext cx="10414000" cy="342900"/>
          </a:xfrm>
          <a:prstGeom prst="rect">
            <a:avLst/>
          </a:prstGeom>
          <a:solidFill>
            <a:srgbClr val="FEF1C8"/>
          </a:solidFill>
          <a:ln>
            <a:noFill/>
          </a:ln>
        </p:spPr>
      </p:sp>
      <p:sp>
        <p:nvSpPr>
          <p:cNvPr id="89" name="Code: embedding_bag marker"/>
          <p:cNvSpPr/>
          <p:nvPr/>
        </p:nvSpPr>
        <p:spPr>
          <a:xfrm>
            <a:off x="508000" y="16725900"/>
            <a:ext cx="38100" cy="342900"/>
          </a:xfrm>
          <a:prstGeom prst="rect">
            <a:avLst/>
          </a:prstGeom>
          <a:solidFill>
            <a:srgbClr val="C44918"/>
          </a:solidFill>
          <a:ln>
            <a:noFill/>
          </a:ln>
        </p:spPr>
      </p:sp>
      <p:sp>
        <p:nvSpPr>
          <p:cNvPr id="90" name="Code: embedding_bag"/>
          <p:cNvSpPr txBox="1"/>
          <p:nvPr/>
        </p:nvSpPr>
        <p:spPr>
          <a:xfrm>
            <a:off x="609600" y="13436600"/>
            <a:ext cx="10210800" cy="42926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def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embedding_bag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table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ids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4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zeros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dtype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int64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device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ids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device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table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new_zeros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table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shape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1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def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body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pos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+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arange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device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ids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device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rows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table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ids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pos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clamp_max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len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ids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-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1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return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+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+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rows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*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pos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&lt;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None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sum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1A6E6F"/>
                </a:solidFill>
                <a:latin typeface="Liberation Mono"/>
                <a:cs typeface="Liberation Mono"/>
              </a:rPr>
              <a:t>0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_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1" dirty="0">
                <a:solidFill>
                  <a:srgbClr val="C44918"/>
                </a:solidFill>
                <a:latin typeface="Liberation Mono"/>
                <a:cs typeface="Liberation Mono"/>
              </a:rPr>
              <a:t>torch</a:t>
            </a:r>
            <a:r>
              <a:rPr lang="en-US" sz="2100" b="1" dirty="0">
                <a:solidFill>
                  <a:srgbClr val="C44918"/>
                </a:solidFill>
                <a:latin typeface="Liberation Mono"/>
                <a:cs typeface="Liberation Mono"/>
              </a:rPr>
              <a:t>.</a:t>
            </a:r>
            <a:r>
              <a:rPr lang="en-US" sz="2100" b="1" dirty="0">
                <a:solidFill>
                  <a:srgbClr val="C44918"/>
                </a:solidFill>
                <a:latin typeface="Liberation Mono"/>
                <a:cs typeface="Liberation Mono"/>
              </a:rPr>
              <a:t>while_loop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lambda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&lt;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body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i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100" dirty="0"/>
          </a:p>
          <a:p>
            <a:pPr marL="0" indent="0" algn="l">
              <a:lnSpc>
                <a:spcPts val="2600"/>
              </a:lnSpc>
              <a:buNone/>
            </a:pP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100" b="1" dirty="0">
                <a:solidFill>
                  <a:srgbClr val="295897"/>
                </a:solidFill>
                <a:latin typeface="Liberation Mono"/>
                <a:cs typeface="Liberation Mono"/>
              </a:rPr>
              <a:t>return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100" b="0" dirty="0">
                <a:solidFill>
                  <a:srgbClr val="222222"/>
                </a:solidFill>
                <a:latin typeface="Liberation Mono"/>
                <a:cs typeface="Liberation Mono"/>
              </a:rPr>
              <a:t>acc</a:t>
            </a:r>
            <a:endParaRPr lang="en-US" sz="2100" dirty="0"/>
          </a:p>
        </p:txBody>
      </p:sp>
      <p:sp>
        <p:nvSpPr>
          <p:cNvPr id="91" name="WHILE node"/>
          <p:cNvSpPr/>
          <p:nvPr/>
        </p:nvSpPr>
        <p:spPr>
          <a:xfrm>
            <a:off x="711200" y="18059400"/>
            <a:ext cx="10007600" cy="2235200"/>
          </a:xfrm>
          <a:prstGeom prst="roundRect">
            <a:avLst>
              <a:gd name="adj" fmla="val 7955"/>
            </a:avLst>
          </a:prstGeom>
          <a:solidFill>
            <a:srgbClr val="FFF7E8"/>
          </a:solidFill>
          <a:ln w="38100">
            <a:solidFill>
              <a:srgbClr val="C44918"/>
            </a:solidFill>
            <a:round/>
          </a:ln>
        </p:spPr>
      </p:sp>
      <p:sp>
        <p:nvSpPr>
          <p:cNvPr id="92" name="WHILE node title"/>
          <p:cNvSpPr txBox="1"/>
          <p:nvPr/>
        </p:nvSpPr>
        <p:spPr>
          <a:xfrm>
            <a:off x="939800" y="18211800"/>
            <a:ext cx="500380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44918"/>
                </a:solidFill>
                <a:latin typeface="Arial"/>
                <a:cs typeface="Arial"/>
              </a:rPr>
              <a:t>WHILE conditional node</a:t>
            </a:r>
            <a:endParaRPr lang="en-US" sz="2200" dirty="0"/>
          </a:p>
        </p:txBody>
      </p:sp>
      <p:sp>
        <p:nvSpPr>
          <p:cNvPr id="93" name="WHILE node handle"/>
          <p:cNvSpPr txBox="1"/>
          <p:nvPr/>
        </p:nvSpPr>
        <p:spPr>
          <a:xfrm>
            <a:off x="5715000" y="18237200"/>
            <a:ext cx="47752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en-US" sz="1900" b="0" dirty="0">
                <a:solidFill>
                  <a:srgbClr val="1A6E6F"/>
                </a:solidFill>
                <a:latin typeface="Liberation Mono"/>
                <a:cs typeface="Liberation Mono"/>
              </a:rPr>
              <a:t>handle = i &lt; n</a:t>
            </a:r>
            <a:endParaRPr lang="en-US" sz="1900" dirty="0"/>
          </a:p>
        </p:txBody>
      </p:sp>
      <p:sp>
        <p:nvSpPr>
          <p:cNvPr id="94" name="WHILE kernel 0"/>
          <p:cNvSpPr/>
          <p:nvPr/>
        </p:nvSpPr>
        <p:spPr>
          <a:xfrm>
            <a:off x="990600" y="18770600"/>
            <a:ext cx="2997200" cy="6604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700" b="0" dirty="0">
                <a:solidFill>
                  <a:srgbClr val="222222"/>
                </a:solidFill>
                <a:latin typeface="Liberation Mono"/>
                <a:cs typeface="Liberation Mono"/>
              </a:rPr>
              <a:t>rows = table[ids[pos]]</a:t>
            </a:r>
            <a:endParaRPr lang="en-US" sz="1700" dirty="0"/>
          </a:p>
        </p:txBody>
      </p:sp>
      <p:cxnSp>
        <p:nvCxnSpPr>
          <p:cNvPr id="95" name="Arrow"/>
          <p:cNvCxnSpPr/>
          <p:nvPr/>
        </p:nvCxnSpPr>
        <p:spPr>
          <a:xfrm>
            <a:off x="3987800" y="19100800"/>
            <a:ext cx="355600" cy="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96" name="WHILE kernel 1"/>
          <p:cNvSpPr/>
          <p:nvPr/>
        </p:nvSpPr>
        <p:spPr>
          <a:xfrm>
            <a:off x="4343400" y="18770600"/>
            <a:ext cx="2616200" cy="6604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800" b="0" dirty="0">
                <a:solidFill>
                  <a:srgbClr val="222222"/>
                </a:solidFill>
                <a:latin typeface="Arial"/>
                <a:cs typeface="Arial"/>
              </a:rPr>
              <a:t>acc += masked sum</a:t>
            </a:r>
            <a:endParaRPr lang="en-US" sz="1800" dirty="0"/>
          </a:p>
        </p:txBody>
      </p:sp>
      <p:cxnSp>
        <p:nvCxnSpPr>
          <p:cNvPr id="97" name="Arrow"/>
          <p:cNvCxnSpPr/>
          <p:nvPr/>
        </p:nvCxnSpPr>
        <p:spPr>
          <a:xfrm>
            <a:off x="6959600" y="19100800"/>
            <a:ext cx="355600" cy="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98" name="WHILE kernel 2"/>
          <p:cNvSpPr/>
          <p:nvPr/>
        </p:nvSpPr>
        <p:spPr>
          <a:xfrm>
            <a:off x="7315200" y="18770600"/>
            <a:ext cx="2997200" cy="6604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800" b="0" dirty="0">
                <a:solidFill>
                  <a:srgbClr val="222222"/>
                </a:solidFill>
                <a:latin typeface="Arial"/>
                <a:cs typeface="Arial"/>
              </a:rPr>
              <a:t>i += C; set handle</a:t>
            </a:r>
            <a:endParaRPr lang="en-US" sz="1800" dirty="0"/>
          </a:p>
        </p:txBody>
      </p:sp>
      <p:cxnSp>
        <p:nvCxnSpPr>
          <p:cNvPr id="99" name="Arrow"/>
          <p:cNvCxnSpPr/>
          <p:nvPr/>
        </p:nvCxnSpPr>
        <p:spPr>
          <a:xfrm>
            <a:off x="8813800" y="194310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</a:ln>
        </p:spPr>
      </p:cxnSp>
      <p:cxnSp>
        <p:nvCxnSpPr>
          <p:cNvPr id="100" name="Arrow"/>
          <p:cNvCxnSpPr/>
          <p:nvPr/>
        </p:nvCxnSpPr>
        <p:spPr>
          <a:xfrm flipH="1">
            <a:off x="2489200" y="19812000"/>
            <a:ext cx="6324600" cy="0"/>
          </a:xfrm>
          <a:prstGeom prst="straightConnector1">
            <a:avLst/>
          </a:prstGeom>
          <a:ln w="31750">
            <a:solidFill>
              <a:srgbClr val="727070"/>
            </a:solidFill>
            <a:round/>
          </a:ln>
        </p:spPr>
      </p:cxnSp>
      <p:cxnSp>
        <p:nvCxnSpPr>
          <p:cNvPr id="101" name="Arrow"/>
          <p:cNvCxnSpPr/>
          <p:nvPr/>
        </p:nvCxnSpPr>
        <p:spPr>
          <a:xfrm flipV="1">
            <a:off x="2489200" y="194310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102" name="WHILE loop label"/>
          <p:cNvSpPr txBox="1"/>
          <p:nvPr/>
        </p:nvSpPr>
        <p:spPr>
          <a:xfrm>
            <a:off x="2870200" y="19888200"/>
            <a:ext cx="5562600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700" b="0" dirty="0">
                <a:solidFill>
                  <a:srgbClr val="727070"/>
                </a:solidFill>
                <a:latin typeface="Arial"/>
                <a:cs typeface="Arial"/>
              </a:rPr>
              <a:t>repeat while i &lt; n: the GPU decides</a:t>
            </a:r>
            <a:endParaRPr lang="en-US" sz="1700" dirty="0"/>
          </a:p>
        </p:txBody>
      </p:sp>
      <p:sp>
        <p:nvSpPr>
          <p:cNvPr id="103" name="Note: while"/>
          <p:cNvSpPr txBox="1"/>
          <p:nvPr/>
        </p:nvSpPr>
        <p:spPr>
          <a:xfrm>
            <a:off x="609600" y="205486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n changes per replay; acc keeps its shape and address.</a:t>
            </a:r>
            <a:endParaRPr lang="en-US" sz="2100" dirty="0"/>
          </a:p>
        </p:txBody>
      </p:sp>
      <p:sp>
        <p:nvSpPr>
          <p:cNvPr id="104" name="Heading Top-1 MoE: run only the routed expert"/>
          <p:cNvSpPr txBox="1"/>
          <p:nvPr/>
        </p:nvSpPr>
        <p:spPr>
          <a:xfrm>
            <a:off x="11353800" y="123444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A6E6F"/>
                </a:solidFill>
                <a:latin typeface="Arial"/>
                <a:cs typeface="Arial"/>
              </a:rPr>
              <a:t>03  </a:t>
            </a: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Top-1 MoE: run only the routed expert</a:t>
            </a:r>
            <a:endParaRPr lang="en-US" sz="3000" dirty="0"/>
          </a:p>
        </p:txBody>
      </p:sp>
      <p:sp>
        <p:nvSpPr>
          <p:cNvPr id="105" name="Subline Top-1 MoE: run only the routed expert"/>
          <p:cNvSpPr txBox="1"/>
          <p:nvPr/>
        </p:nvSpPr>
        <p:spPr>
          <a:xfrm>
            <a:off x="11353800" y="128778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torch.switch()  →  SWITCH conditional node</a:t>
            </a:r>
            <a:endParaRPr lang="en-US" sz="2100" dirty="0"/>
          </a:p>
        </p:txBody>
      </p:sp>
      <p:sp>
        <p:nvSpPr>
          <p:cNvPr id="106" name="Import: switch"/>
          <p:cNvSpPr txBox="1"/>
          <p:nvPr/>
        </p:nvSpPr>
        <p:spPr>
          <a:xfrm>
            <a:off x="11353800" y="13436600"/>
            <a:ext cx="102108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900" b="0" dirty="0">
                <a:solidFill>
                  <a:srgbClr val="727070"/>
                </a:solidFill>
                <a:latin typeface="Liberation Mono"/>
                <a:cs typeface="Liberation Mono"/>
              </a:rPr>
              <a:t>from torch._higher_order_ops import switch</a:t>
            </a:r>
            <a:endParaRPr lang="en-US" sz="1900" dirty="0"/>
          </a:p>
        </p:txBody>
      </p:sp>
      <p:sp>
        <p:nvSpPr>
          <p:cNvPr id="107" name="Code: moe_decode highlight"/>
          <p:cNvSpPr/>
          <p:nvPr/>
        </p:nvSpPr>
        <p:spPr>
          <a:xfrm>
            <a:off x="11252200" y="15938500"/>
            <a:ext cx="10414000" cy="355600"/>
          </a:xfrm>
          <a:prstGeom prst="rect">
            <a:avLst/>
          </a:prstGeom>
          <a:solidFill>
            <a:srgbClr val="FEF1C8"/>
          </a:solidFill>
          <a:ln>
            <a:noFill/>
          </a:ln>
        </p:spPr>
      </p:sp>
      <p:sp>
        <p:nvSpPr>
          <p:cNvPr id="108" name="Code: moe_decode marker"/>
          <p:cNvSpPr/>
          <p:nvPr/>
        </p:nvSpPr>
        <p:spPr>
          <a:xfrm>
            <a:off x="11252200" y="15938500"/>
            <a:ext cx="38100" cy="355600"/>
          </a:xfrm>
          <a:prstGeom prst="rect">
            <a:avLst/>
          </a:prstGeom>
          <a:solidFill>
            <a:srgbClr val="C44918"/>
          </a:solidFill>
          <a:ln>
            <a:noFill/>
          </a:ln>
        </p:spPr>
      </p:sp>
      <p:sp>
        <p:nvSpPr>
          <p:cNvPr id="109" name="Code: moe_decode"/>
          <p:cNvSpPr txBox="1"/>
          <p:nvPr/>
        </p:nvSpPr>
        <p:spPr>
          <a:xfrm>
            <a:off x="11353800" y="13893800"/>
            <a:ext cx="10210800" cy="24003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200" b="1" dirty="0">
                <a:solidFill>
                  <a:srgbClr val="295897"/>
                </a:solidFill>
                <a:latin typeface="Liberation Mono"/>
                <a:cs typeface="Liberation Mono"/>
              </a:rPr>
              <a:t>def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moe_decode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router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w_up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w_down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expert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@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router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argmax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experts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200" b="1" dirty="0">
                <a:solidFill>
                  <a:srgbClr val="295897"/>
                </a:solidFill>
                <a:latin typeface="Liberation Mono"/>
                <a:cs typeface="Liberation Mono"/>
              </a:rPr>
              <a:t>lambda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=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: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torch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.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relu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@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w_up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@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w_down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[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    </a:t>
            </a:r>
            <a:r>
              <a:rPr lang="en-US" sz="2200" b="1" dirty="0">
                <a:solidFill>
                  <a:srgbClr val="295897"/>
                </a:solidFill>
                <a:latin typeface="Liberation Mono"/>
                <a:cs typeface="Liberation Mono"/>
              </a:rPr>
              <a:t>for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in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range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len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w_up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]</a:t>
            </a:r>
            <a:endParaRPr lang="en-US" sz="2200" dirty="0"/>
          </a:p>
          <a:p>
            <a:pPr marL="0" indent="0" algn="l">
              <a:lnSpc>
                <a:spcPts val="2700"/>
              </a:lnSpc>
              <a:buNone/>
            </a:pP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   </a:t>
            </a:r>
            <a:r>
              <a:rPr lang="en-US" sz="2200" b="1" dirty="0">
                <a:solidFill>
                  <a:srgbClr val="295897"/>
                </a:solidFill>
                <a:latin typeface="Liberation Mono"/>
                <a:cs typeface="Liberation Mono"/>
              </a:rPr>
              <a:t>return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1" dirty="0">
                <a:solidFill>
                  <a:srgbClr val="C44918"/>
                </a:solidFill>
                <a:latin typeface="Liberation Mono"/>
                <a:cs typeface="Liberation Mono"/>
              </a:rPr>
              <a:t>switch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expert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experts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 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(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x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,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r>
              <a:rPr lang="en-US" sz="2200" b="0" dirty="0">
                <a:solidFill>
                  <a:srgbClr val="222222"/>
                </a:solidFill>
                <a:latin typeface="Liberation Mono"/>
                <a:cs typeface="Liberation Mono"/>
              </a:rPr>
              <a:t>)</a:t>
            </a:r>
            <a:endParaRPr lang="en-US" sz="2200" dirty="0"/>
          </a:p>
        </p:txBody>
      </p:sp>
      <p:sp>
        <p:nvSpPr>
          <p:cNvPr id="110" name="Kernel: router"/>
          <p:cNvSpPr/>
          <p:nvPr/>
        </p:nvSpPr>
        <p:spPr>
          <a:xfrm>
            <a:off x="11455400" y="16624300"/>
            <a:ext cx="4191000" cy="660400"/>
          </a:xfrm>
          <a:prstGeom prst="roundRect">
            <a:avLst>
              <a:gd name="adj" fmla="val 15385"/>
            </a:avLst>
          </a:prstGeom>
          <a:solidFill>
            <a:srgbClr val="F2F2F2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900" b="0" dirty="0">
                <a:solidFill>
                  <a:srgbClr val="222222"/>
                </a:solidFill>
                <a:latin typeface="Liberation Mono"/>
                <a:cs typeface="Liberation Mono"/>
              </a:rPr>
              <a:t>argmax(x @ router)</a:t>
            </a:r>
            <a:endParaRPr lang="en-US" sz="1900" dirty="0"/>
          </a:p>
        </p:txBody>
      </p:sp>
      <p:cxnSp>
        <p:nvCxnSpPr>
          <p:cNvPr id="111" name="Arrow"/>
          <p:cNvCxnSpPr/>
          <p:nvPr/>
        </p:nvCxnSpPr>
        <p:spPr>
          <a:xfrm>
            <a:off x="15646400" y="16954500"/>
            <a:ext cx="431800" cy="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112" name="Kernel: set index"/>
          <p:cNvSpPr/>
          <p:nvPr/>
        </p:nvSpPr>
        <p:spPr>
          <a:xfrm>
            <a:off x="16078200" y="16624300"/>
            <a:ext cx="5384800" cy="660400"/>
          </a:xfrm>
          <a:prstGeom prst="roundRect">
            <a:avLst>
              <a:gd name="adj" fmla="val 15385"/>
            </a:avLst>
          </a:prstGeom>
          <a:solidFill>
            <a:srgbClr val="E3EFEF"/>
          </a:solidFill>
          <a:ln w="19050">
            <a:solidFill>
              <a:srgbClr val="1A6E6F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1800" b="0" dirty="0">
                <a:solidFill>
                  <a:srgbClr val="222222"/>
                </a:solidFill>
                <a:latin typeface="Liberation Mono"/>
                <a:cs typeface="Liberation Mono"/>
              </a:rPr>
              <a:t>set_conditional(handle, expert)</a:t>
            </a:r>
            <a:endParaRPr lang="en-US" sz="1800" dirty="0"/>
          </a:p>
        </p:txBody>
      </p:sp>
      <p:cxnSp>
        <p:nvCxnSpPr>
          <p:cNvPr id="113" name="Arrow"/>
          <p:cNvCxnSpPr/>
          <p:nvPr/>
        </p:nvCxnSpPr>
        <p:spPr>
          <a:xfrm>
            <a:off x="18770600" y="17284700"/>
            <a:ext cx="0" cy="381000"/>
          </a:xfrm>
          <a:prstGeom prst="straightConnector1">
            <a:avLst/>
          </a:prstGeom>
          <a:ln w="31750">
            <a:solidFill>
              <a:srgbClr val="727070"/>
            </a:solidFill>
            <a:round/>
            <a:tailEnd type="triangle" w="lg" len="lg"/>
          </a:ln>
        </p:spPr>
      </p:cxnSp>
      <p:sp>
        <p:nvSpPr>
          <p:cNvPr id="114" name="SWITCH node"/>
          <p:cNvSpPr/>
          <p:nvPr/>
        </p:nvSpPr>
        <p:spPr>
          <a:xfrm>
            <a:off x="11455400" y="17665700"/>
            <a:ext cx="10007600" cy="2235200"/>
          </a:xfrm>
          <a:prstGeom prst="roundRect">
            <a:avLst>
              <a:gd name="adj" fmla="val 7955"/>
            </a:avLst>
          </a:prstGeom>
          <a:solidFill>
            <a:srgbClr val="FFF7E8"/>
          </a:solidFill>
          <a:ln w="38100">
            <a:solidFill>
              <a:srgbClr val="C44918"/>
            </a:solidFill>
            <a:round/>
          </a:ln>
        </p:spPr>
      </p:sp>
      <p:sp>
        <p:nvSpPr>
          <p:cNvPr id="115" name="SWITCH node title"/>
          <p:cNvSpPr txBox="1"/>
          <p:nvPr/>
        </p:nvSpPr>
        <p:spPr>
          <a:xfrm>
            <a:off x="11684000" y="17818100"/>
            <a:ext cx="5003800" cy="349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C44918"/>
                </a:solidFill>
                <a:latin typeface="Arial"/>
                <a:cs typeface="Arial"/>
              </a:rPr>
              <a:t>SWITCH conditional node</a:t>
            </a:r>
            <a:endParaRPr lang="en-US" sz="2200" dirty="0"/>
          </a:p>
        </p:txBody>
      </p:sp>
      <p:sp>
        <p:nvSpPr>
          <p:cNvPr id="116" name="SWITCH node handle"/>
          <p:cNvSpPr txBox="1"/>
          <p:nvPr/>
        </p:nvSpPr>
        <p:spPr>
          <a:xfrm>
            <a:off x="16459200" y="17843500"/>
            <a:ext cx="47752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r">
              <a:buNone/>
            </a:pPr>
            <a:r>
              <a:rPr lang="en-US" sz="1900" b="0" dirty="0">
                <a:solidFill>
                  <a:srgbClr val="1A6E6F"/>
                </a:solidFill>
                <a:latin typeface="Liberation Mono"/>
                <a:cs typeface="Liberation Mono"/>
              </a:rPr>
              <a:t>handle = expert</a:t>
            </a:r>
            <a:endParaRPr lang="en-US" sz="1900" dirty="0"/>
          </a:p>
        </p:txBody>
      </p:sp>
      <p:sp>
        <p:nvSpPr>
          <p:cNvPr id="117" name="Expert 0"/>
          <p:cNvSpPr/>
          <p:nvPr/>
        </p:nvSpPr>
        <p:spPr>
          <a:xfrm>
            <a:off x="1168400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e0</a:t>
            </a:r>
            <a:endParaRPr lang="en-US" sz="2200" dirty="0"/>
          </a:p>
        </p:txBody>
      </p:sp>
      <p:sp>
        <p:nvSpPr>
          <p:cNvPr id="118" name="Expert 1"/>
          <p:cNvSpPr/>
          <p:nvPr/>
        </p:nvSpPr>
        <p:spPr>
          <a:xfrm>
            <a:off x="1289685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e1</a:t>
            </a:r>
            <a:endParaRPr lang="en-US" sz="2200" dirty="0"/>
          </a:p>
        </p:txBody>
      </p:sp>
      <p:sp>
        <p:nvSpPr>
          <p:cNvPr id="119" name="Expert 2"/>
          <p:cNvSpPr/>
          <p:nvPr/>
        </p:nvSpPr>
        <p:spPr>
          <a:xfrm>
            <a:off x="1410970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e2</a:t>
            </a:r>
            <a:endParaRPr lang="en-US" sz="2200" dirty="0"/>
          </a:p>
        </p:txBody>
      </p:sp>
      <p:sp>
        <p:nvSpPr>
          <p:cNvPr id="120" name="Expert 3"/>
          <p:cNvSpPr/>
          <p:nvPr/>
        </p:nvSpPr>
        <p:spPr>
          <a:xfrm>
            <a:off x="1532255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e3</a:t>
            </a:r>
            <a:endParaRPr lang="en-US" sz="2200" dirty="0"/>
          </a:p>
        </p:txBody>
      </p:sp>
      <p:sp>
        <p:nvSpPr>
          <p:cNvPr id="121" name="Expert 4"/>
          <p:cNvSpPr/>
          <p:nvPr/>
        </p:nvSpPr>
        <p:spPr>
          <a:xfrm>
            <a:off x="1653540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e4</a:t>
            </a:r>
            <a:endParaRPr lang="en-US" sz="2200" dirty="0"/>
          </a:p>
        </p:txBody>
      </p:sp>
      <p:sp>
        <p:nvSpPr>
          <p:cNvPr id="122" name="Expert 5"/>
          <p:cNvSpPr/>
          <p:nvPr/>
        </p:nvSpPr>
        <p:spPr>
          <a:xfrm>
            <a:off x="1774825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C44918"/>
          </a:solidFill>
          <a:ln w="19050">
            <a:solidFill>
              <a:srgbClr val="C44918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Arial"/>
                <a:cs typeface="Arial"/>
              </a:rPr>
              <a:t>e5</a:t>
            </a:r>
            <a:endParaRPr lang="en-US" sz="2200" dirty="0"/>
          </a:p>
        </p:txBody>
      </p:sp>
      <p:sp>
        <p:nvSpPr>
          <p:cNvPr id="123" name="Expert 6"/>
          <p:cNvSpPr/>
          <p:nvPr/>
        </p:nvSpPr>
        <p:spPr>
          <a:xfrm>
            <a:off x="1896110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e6</a:t>
            </a:r>
            <a:endParaRPr lang="en-US" sz="2200" dirty="0"/>
          </a:p>
        </p:txBody>
      </p:sp>
      <p:sp>
        <p:nvSpPr>
          <p:cNvPr id="124" name="Expert 7"/>
          <p:cNvSpPr/>
          <p:nvPr/>
        </p:nvSpPr>
        <p:spPr>
          <a:xfrm>
            <a:off x="20173950" y="18402300"/>
            <a:ext cx="1060450" cy="88900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9E9E9E"/>
            </a:solidFill>
            <a:round/>
          </a:ln>
        </p:spPr>
        <p:txBody>
          <a:bodyPr wrap="none" lIns="0" tIns="0" rIns="0" bIns="0" anchor="ctr">
            <a:noAutofit/>
          </a:bodyPr>
          <a:lstStyle/>
          <a:p>
            <a:pPr marL="0" indent="0" algn="ctr">
              <a:buNone/>
            </a:pPr>
            <a:r>
              <a:rPr lang="en-US" sz="2200" b="0" dirty="0">
                <a:solidFill>
                  <a:srgbClr val="727070"/>
                </a:solidFill>
                <a:latin typeface="Arial"/>
                <a:cs typeface="Arial"/>
              </a:rPr>
              <a:t>e7</a:t>
            </a:r>
            <a:endParaRPr lang="en-US" sz="2200" dirty="0"/>
          </a:p>
        </p:txBody>
      </p:sp>
      <p:sp>
        <p:nvSpPr>
          <p:cNvPr id="125" name="SWITCH label"/>
          <p:cNvSpPr txBox="1"/>
          <p:nvPr/>
        </p:nvSpPr>
        <p:spPr>
          <a:xfrm>
            <a:off x="11684000" y="19443700"/>
            <a:ext cx="9550400" cy="2698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ctr">
              <a:buNone/>
            </a:pPr>
            <a:r>
              <a:rPr lang="en-US" sz="1700" b="0" dirty="0">
                <a:solidFill>
                  <a:srgbClr val="727070"/>
                </a:solidFill>
                <a:latin typeface="Arial"/>
                <a:cs typeface="Arial"/>
              </a:rPr>
              <a:t>one body per expert; only body[expert] runs at replay</a:t>
            </a:r>
            <a:endParaRPr lang="en-US" sz="1700" dirty="0"/>
          </a:p>
        </p:txBody>
      </p:sp>
      <p:sp>
        <p:nvSpPr>
          <p:cNvPr id="126" name="Note: switch 1"/>
          <p:cNvSpPr txBox="1"/>
          <p:nvPr/>
        </p:nvSpPr>
        <p:spPr>
          <a:xfrm>
            <a:off x="11353800" y="202565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Only the routed expert's kernels run and only its weights are read.</a:t>
            </a:r>
            <a:endParaRPr lang="en-US" sz="2100" dirty="0"/>
          </a:p>
        </p:txBody>
      </p:sp>
      <p:sp>
        <p:nvSpPr>
          <p:cNvPr id="127" name="Note: switch 2"/>
          <p:cNvSpPr txBox="1"/>
          <p:nvPr/>
        </p:nvSpPr>
        <p:spPr>
          <a:xfrm>
            <a:off x="11353800" y="20662900"/>
            <a:ext cx="10210800" cy="301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1900" b="0" dirty="0">
                <a:solidFill>
                  <a:srgbClr val="727070"/>
                </a:solidFill>
                <a:latin typeface="Arial"/>
                <a:cs typeface="Arial"/>
              </a:rPr>
              <a:t>Capture needs #189461; today the example runs eagerly / aot_eager.</a:t>
            </a:r>
            <a:endParaRPr lang="en-US" sz="1900" dirty="0"/>
          </a:p>
        </p:txBody>
      </p:sp>
      <p:sp>
        <p:nvSpPr>
          <p:cNvPr id="128" name="Heading The contract"/>
          <p:cNvSpPr txBox="1"/>
          <p:nvPr/>
        </p:nvSpPr>
        <p:spPr>
          <a:xfrm>
            <a:off x="22098000" y="12344400"/>
            <a:ext cx="10210800" cy="47625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222222"/>
                </a:solidFill>
                <a:latin typeface="Arial"/>
                <a:cs typeface="Arial"/>
              </a:rPr>
              <a:t>The contract</a:t>
            </a:r>
            <a:endParaRPr lang="en-US" sz="3000" dirty="0"/>
          </a:p>
        </p:txBody>
      </p:sp>
      <p:sp>
        <p:nvSpPr>
          <p:cNvPr id="129" name="Subline The contract"/>
          <p:cNvSpPr txBox="1"/>
          <p:nvPr/>
        </p:nvSpPr>
        <p:spPr>
          <a:xfrm>
            <a:off x="22098000" y="12877800"/>
            <a:ext cx="102108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727070"/>
                </a:solidFill>
                <a:latin typeface="Arial"/>
                <a:cs typeface="Arial"/>
              </a:rPr>
              <a:t>What keeps a region inside one CUDA graph</a:t>
            </a:r>
            <a:endParaRPr lang="en-US" sz="2100" dirty="0"/>
          </a:p>
        </p:txBody>
      </p:sp>
      <p:sp>
        <p:nvSpPr>
          <p:cNvPr id="130" name="Bullet"/>
          <p:cNvSpPr/>
          <p:nvPr/>
        </p:nvSpPr>
        <p:spPr>
          <a:xfrm>
            <a:off x="22098000" y="13548614"/>
            <a:ext cx="114300" cy="1143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131" name="Bullet 1"/>
          <p:cNvSpPr txBox="1"/>
          <p:nvPr/>
        </p:nvSpPr>
        <p:spPr>
          <a:xfrm>
            <a:off x="22402800" y="134366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Static output shapes. </a:t>
            </a: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Every branch and loop iteration returns</a:t>
            </a:r>
            <a:endParaRPr lang="en-US" sz="2100" dirty="0"/>
          </a:p>
        </p:txBody>
      </p:sp>
      <p:sp>
        <p:nvSpPr>
          <p:cNvPr id="132" name="Bullet 1 cont."/>
          <p:cNvSpPr txBox="1"/>
          <p:nvPr/>
        </p:nvSpPr>
        <p:spPr>
          <a:xfrm>
            <a:off x="22402800" y="137795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tensors of the same shape, dtype, and device.</a:t>
            </a:r>
            <a:endParaRPr lang="en-US" sz="2100" dirty="0"/>
          </a:p>
        </p:txBody>
      </p:sp>
      <p:sp>
        <p:nvSpPr>
          <p:cNvPr id="133" name="Bullet"/>
          <p:cNvSpPr/>
          <p:nvPr/>
        </p:nvSpPr>
        <p:spPr>
          <a:xfrm>
            <a:off x="22098000" y="14412214"/>
            <a:ext cx="114300" cy="1143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134" name="Bullet 2"/>
          <p:cNvSpPr txBox="1"/>
          <p:nvPr/>
        </p:nvSpPr>
        <p:spPr>
          <a:xfrm>
            <a:off x="22402800" y="143002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Decisions stay on the GPU. </a:t>
            </a: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Predicates, loop guards, and switch</a:t>
            </a:r>
            <a:endParaRPr lang="en-US" sz="2100" dirty="0"/>
          </a:p>
        </p:txBody>
      </p:sp>
      <p:sp>
        <p:nvSpPr>
          <p:cNvPr id="135" name="Bullet 2 cont."/>
          <p:cNvSpPr txBox="1"/>
          <p:nvPr/>
        </p:nvSpPr>
        <p:spPr>
          <a:xfrm>
            <a:off x="22402800" y="146431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indices are CUDA tensors; replay never calls .item().</a:t>
            </a:r>
            <a:endParaRPr lang="en-US" sz="2100" dirty="0"/>
          </a:p>
        </p:txBody>
      </p:sp>
      <p:sp>
        <p:nvSpPr>
          <p:cNvPr id="136" name="Bullet"/>
          <p:cNvSpPr/>
          <p:nvPr/>
        </p:nvSpPr>
        <p:spPr>
          <a:xfrm>
            <a:off x="22098000" y="15275814"/>
            <a:ext cx="114300" cy="1143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137" name="Bullet 3"/>
          <p:cNvSpPr txBox="1"/>
          <p:nvPr/>
        </p:nvSpPr>
        <p:spPr>
          <a:xfrm>
            <a:off x="22402800" y="151638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Bounded dynamism. </a:t>
            </a: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A runtime size becomes a GPU scalar plus a</a:t>
            </a:r>
            <a:endParaRPr lang="en-US" sz="2100" dirty="0"/>
          </a:p>
        </p:txBody>
      </p:sp>
      <p:sp>
        <p:nvSpPr>
          <p:cNvPr id="138" name="Bullet 3 cont."/>
          <p:cNvSpPr txBox="1"/>
          <p:nvPr/>
        </p:nvSpPr>
        <p:spPr>
          <a:xfrm>
            <a:off x="22402800" y="155067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fixed-capacity buffer, as in the chunked while_loop.</a:t>
            </a:r>
            <a:endParaRPr lang="en-US" sz="2100" dirty="0"/>
          </a:p>
        </p:txBody>
      </p:sp>
      <p:sp>
        <p:nvSpPr>
          <p:cNvPr id="139" name="Bullet"/>
          <p:cNvSpPr/>
          <p:nvPr/>
        </p:nvSpPr>
        <p:spPr>
          <a:xfrm>
            <a:off x="22098000" y="16139414"/>
            <a:ext cx="114300" cy="1143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140" name="Bullet 4"/>
          <p:cNvSpPr txBox="1"/>
          <p:nvPr/>
        </p:nvSpPr>
        <p:spPr>
          <a:xfrm>
            <a:off x="22402800" y="160274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One line to adopt. </a:t>
            </a: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torch.compile(fn, backend="cudagraphs")</a:t>
            </a:r>
            <a:endParaRPr lang="en-US" sz="2100" dirty="0"/>
          </a:p>
        </p:txBody>
      </p:sp>
      <p:sp>
        <p:nvSpPr>
          <p:cNvPr id="141" name="Bullet 4 cont."/>
          <p:cNvSpPr txBox="1"/>
          <p:nvPr/>
        </p:nvSpPr>
        <p:spPr>
          <a:xfrm>
            <a:off x="22402800" y="163703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captures once and replays; no manual capture code.</a:t>
            </a:r>
            <a:endParaRPr lang="en-US" sz="2100" dirty="0"/>
          </a:p>
        </p:txBody>
      </p:sp>
      <p:sp>
        <p:nvSpPr>
          <p:cNvPr id="142" name="Bullet"/>
          <p:cNvSpPr/>
          <p:nvPr/>
        </p:nvSpPr>
        <p:spPr>
          <a:xfrm>
            <a:off x="22098000" y="17003014"/>
            <a:ext cx="114300" cy="114300"/>
          </a:xfrm>
          <a:prstGeom prst="rect">
            <a:avLst/>
          </a:prstGeom>
          <a:solidFill>
            <a:srgbClr val="1A6E6F"/>
          </a:solidFill>
          <a:ln>
            <a:noFill/>
          </a:ln>
        </p:spPr>
      </p:sp>
      <p:sp>
        <p:nvSpPr>
          <p:cNvPr id="143" name="Bullet 5"/>
          <p:cNvSpPr txBox="1"/>
          <p:nvPr/>
        </p:nvSpPr>
        <p:spPr>
          <a:xfrm>
            <a:off x="22402800" y="168910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1" dirty="0">
                <a:solidFill>
                  <a:srgbClr val="222222"/>
                </a:solidFill>
                <a:latin typeface="Arial"/>
                <a:cs typeface="Arial"/>
              </a:rPr>
              <a:t>Scales out (prototype). </a:t>
            </a: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EP=8 all-to-all MoE inside torch.while_loop</a:t>
            </a:r>
            <a:endParaRPr lang="en-US" sz="2100" dirty="0"/>
          </a:p>
        </p:txBody>
      </p:sp>
      <p:sp>
        <p:nvSpPr>
          <p:cNvPr id="144" name="Bullet 5 cont."/>
          <p:cNvSpPr txBox="1"/>
          <p:nvPr/>
        </p:nvSpPr>
        <p:spPr>
          <a:xfrm>
            <a:off x="22402800" y="17233900"/>
            <a:ext cx="9906000" cy="33337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100" b="0" dirty="0">
                <a:solidFill>
                  <a:srgbClr val="222222"/>
                </a:solidFill>
                <a:latin typeface="Arial"/>
                <a:cs typeface="Arial"/>
              </a:rPr>
              <a:t>on 8 H100s with zero dropped tokens.</a:t>
            </a:r>
            <a:endParaRPr lang="en-US" sz="2100" dirty="0"/>
          </a:p>
        </p:txBody>
      </p:sp>
      <p:sp>
        <p:nvSpPr>
          <p:cNvPr id="145" name="Rule"/>
          <p:cNvSpPr/>
          <p:nvPr/>
        </p:nvSpPr>
        <p:spPr>
          <a:xfrm>
            <a:off x="22098000" y="17830800"/>
            <a:ext cx="10210800" cy="12700"/>
          </a:xfrm>
          <a:prstGeom prst="rect">
            <a:avLst/>
          </a:prstGeom>
          <a:solidFill>
            <a:srgbClr val="D5D4D5"/>
          </a:solidFill>
          <a:ln>
            <a:noFill/>
          </a:ln>
        </p:spPr>
      </p:sp>
      <p:sp>
        <p:nvSpPr>
          <p:cNvPr id="146" name="Open work heading"/>
          <p:cNvSpPr txBox="1"/>
          <p:nvPr/>
        </p:nvSpPr>
        <p:spPr>
          <a:xfrm>
            <a:off x="22098000" y="18034000"/>
            <a:ext cx="10210800" cy="428625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700" b="1" dirty="0">
                <a:solidFill>
                  <a:srgbClr val="C44918"/>
                </a:solidFill>
                <a:latin typeface="Arial"/>
                <a:cs typeface="Arial"/>
              </a:rPr>
              <a:t>Work Before General Use</a:t>
            </a:r>
            <a:endParaRPr lang="en-US" sz="2700" dirty="0"/>
          </a:p>
        </p:txBody>
      </p:sp>
      <p:sp>
        <p:nvSpPr>
          <p:cNvPr id="147" name="Open work lead"/>
          <p:cNvSpPr txBox="1"/>
          <p:nvPr/>
        </p:nvSpPr>
        <p:spPr>
          <a:xfrm>
            <a:off x="22098000" y="185420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Prototype; these upstream items are still open:</a:t>
            </a:r>
            <a:endParaRPr lang="en-US" sz="2000" dirty="0"/>
          </a:p>
        </p:txBody>
      </p:sp>
      <p:sp>
        <p:nvSpPr>
          <p:cNvPr id="148" name="Open work 1"/>
          <p:cNvSpPr txBox="1"/>
          <p:nvPr/>
        </p:nvSpPr>
        <p:spPr>
          <a:xfrm>
            <a:off x="22098000" y="18999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95897"/>
                </a:solidFill>
                <a:latin typeface="Arial"/>
                <a:cs typeface="Arial"/>
                <a:hlinkClick r:id="rId3"/>
              </a:rPr>
              <a:t>#186056</a:t>
            </a: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  input mutation in control flow (in-place optimizer step)</a:t>
            </a:r>
            <a:endParaRPr lang="en-US" sz="2000" dirty="0"/>
          </a:p>
        </p:txBody>
      </p:sp>
      <p:sp>
        <p:nvSpPr>
          <p:cNvPr id="149" name="Open work 2"/>
          <p:cNvSpPr txBox="1"/>
          <p:nvPr/>
        </p:nvSpPr>
        <p:spPr>
          <a:xfrm>
            <a:off x="22098000" y="19380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95897"/>
                </a:solidFill>
                <a:latin typeface="Arial"/>
                <a:cs typeface="Arial"/>
                <a:hlinkClick r:id="rId4"/>
              </a:rPr>
              <a:t>#189462</a:t>
            </a: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  a single IF/ELSE conditional node (CUDA 12.8)</a:t>
            </a:r>
            <a:endParaRPr lang="en-US" sz="2000" dirty="0"/>
          </a:p>
        </p:txBody>
      </p:sp>
      <p:sp>
        <p:nvSpPr>
          <p:cNvPr id="150" name="Open work 3"/>
          <p:cNvSpPr txBox="1"/>
          <p:nvPr/>
        </p:nvSpPr>
        <p:spPr>
          <a:xfrm>
            <a:off x="22098000" y="19761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95897"/>
                </a:solidFill>
                <a:latin typeface="Arial"/>
                <a:cs typeface="Arial"/>
                <a:hlinkClick r:id="rId5"/>
              </a:rPr>
              <a:t>#189461</a:t>
            </a: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  torch.switch() to a SWITCH conditional node (CUDA 12.8)</a:t>
            </a:r>
            <a:endParaRPr lang="en-US" sz="2000" dirty="0"/>
          </a:p>
        </p:txBody>
      </p:sp>
      <p:sp>
        <p:nvSpPr>
          <p:cNvPr id="151" name="Open work 4"/>
          <p:cNvSpPr txBox="1"/>
          <p:nvPr/>
        </p:nvSpPr>
        <p:spPr>
          <a:xfrm>
            <a:off x="22098000" y="20142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95897"/>
                </a:solidFill>
                <a:latin typeface="Arial"/>
                <a:cs typeface="Arial"/>
                <a:hlinkClick r:id="rId6"/>
              </a:rPr>
              <a:t>#192098</a:t>
            </a: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  reuse memory blocks across conditional streams</a:t>
            </a:r>
            <a:endParaRPr lang="en-US" sz="2000" dirty="0"/>
          </a:p>
        </p:txBody>
      </p:sp>
      <p:sp>
        <p:nvSpPr>
          <p:cNvPr id="152" name="Open work 5"/>
          <p:cNvSpPr txBox="1"/>
          <p:nvPr/>
        </p:nvSpPr>
        <p:spPr>
          <a:xfrm>
            <a:off x="22098000" y="20523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1" dirty="0">
                <a:solidFill>
                  <a:srgbClr val="295897"/>
                </a:solidFill>
                <a:latin typeface="Arial"/>
                <a:cs typeface="Arial"/>
                <a:hlinkClick r:id="rId7"/>
              </a:rPr>
              <a:t>#191681</a:t>
            </a:r>
            <a:r>
              <a:rPr lang="en-US" sz="2000" b="0" dirty="0">
                <a:solidFill>
                  <a:srgbClr val="222222"/>
                </a:solidFill>
                <a:latin typeface="Arial"/>
                <a:cs typeface="Arial"/>
              </a:rPr>
              <a:t>  NCCL collectives inside conditional bodies</a:t>
            </a:r>
            <a:endParaRPr lang="en-US" sz="2000" dirty="0"/>
          </a:p>
        </p:txBody>
      </p:sp>
      <p:sp>
        <p:nvSpPr>
          <p:cNvPr id="153" name="Open work inductor"/>
          <p:cNvSpPr txBox="1"/>
          <p:nvPr/>
        </p:nvSpPr>
        <p:spPr>
          <a:xfrm>
            <a:off x="22098000" y="20904200"/>
            <a:ext cx="10210800" cy="317500"/>
          </a:xfrm>
          <a:prstGeom prst="rect">
            <a:avLst/>
          </a:prstGeom>
          <a:noFill/>
        </p:spPr>
        <p:txBody>
          <a:bodyPr wrap="none" lIns="0" tIns="0" rIns="0" bIns="0" anchor="t">
            <a:noAutofit/>
          </a:bodyPr>
          <a:lstStyle/>
          <a:p>
            <a:pPr marL="0" indent="0" algn="l">
              <a:buNone/>
            </a:pPr>
            <a:r>
              <a:rPr lang="en-US" sz="2000" b="0" dirty="0">
                <a:solidFill>
                  <a:srgbClr val="727070"/>
                </a:solidFill>
                <a:latin typeface="Arial"/>
                <a:cs typeface="Arial"/>
              </a:rPr>
              <a:t>Not yet: conditional nodes generated by Inductor.</a:t>
            </a:r>
            <a:endParaRPr lang="en-US" sz="2000" dirty="0"/>
          </a:p>
        </p:txBody>
      </p:sp>
      <p:sp>
        <p:nvSpPr>
          <p:cNvPr id="154" name="Divider"/>
          <p:cNvSpPr/>
          <p:nvPr/>
        </p:nvSpPr>
        <p:spPr>
          <a:xfrm>
            <a:off x="11087100" y="12344400"/>
            <a:ext cx="12700" cy="9245600"/>
          </a:xfrm>
          <a:prstGeom prst="rect">
            <a:avLst/>
          </a:prstGeom>
          <a:solidFill>
            <a:srgbClr val="D5D4D5"/>
          </a:solidFill>
          <a:ln>
            <a:noFill/>
          </a:ln>
        </p:spPr>
      </p:sp>
      <p:sp>
        <p:nvSpPr>
          <p:cNvPr id="155" name="Divider"/>
          <p:cNvSpPr/>
          <p:nvPr/>
        </p:nvSpPr>
        <p:spPr>
          <a:xfrm>
            <a:off x="21831300" y="12344400"/>
            <a:ext cx="12700" cy="9245600"/>
          </a:xfrm>
          <a:prstGeom prst="rect">
            <a:avLst/>
          </a:prstGeom>
          <a:solidFill>
            <a:srgbClr val="D5D4D5"/>
          </a:solidFill>
          <a:ln>
            <a:noFill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295897"/>
      </a:hlink>
      <a:folHlink>
        <a:srgbClr val="B2B2B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1601-01-01T00:00:00Z</dcterms:created>
  <dc:title>Shape-Stable Dynamic Control Flow in PyTorch CUDA Graphs</dc:title>
  <dc:creator>Daniel Galvez; Thomas Ortner</dc:creator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x">
    <vt:lpwstr>1</vt:lpwstr>
  </property>
  <property fmtid="{D5CDD505-2E9C-101B-9397-08002B2CF9AE}" pid="3" name="SecurityClass">
    <vt:lpwstr>Confidential</vt:lpwstr>
  </property>
  <property fmtid="{D5CDD505-2E9C-101B-9397-08002B2CF9AE}" pid="4" name="Prepared">
    <vt:lpwstr/>
  </property>
  <property fmtid="{D5CDD505-2E9C-101B-9397-08002B2CF9AE}" pid="5" name="Checked">
    <vt:lpwstr/>
  </property>
  <property fmtid="{D5CDD505-2E9C-101B-9397-08002B2CF9AE}" pid="6" name="Date">
    <vt:lpwstr>8/26/2014</vt:lpwstr>
  </property>
  <property fmtid="{D5CDD505-2E9C-101B-9397-08002B2CF9AE}" pid="7" name="Revision">
    <vt:lpwstr>PA1</vt:lpwstr>
  </property>
  <property fmtid="{D5CDD505-2E9C-101B-9397-08002B2CF9AE}" pid="8" name="Title">
    <vt:lpwstr/>
  </property>
  <property fmtid="{D5CDD505-2E9C-101B-9397-08002B2CF9AE}" pid="9" name="DocName">
    <vt:lpwstr/>
  </property>
  <property fmtid="{D5CDD505-2E9C-101B-9397-08002B2CF9AE}" pid="10" name="DocNo">
    <vt:lpwstr/>
  </property>
  <property fmtid="{D5CDD505-2E9C-101B-9397-08002B2CF9AE}" pid="11" name="ApprovedBy">
    <vt:lpwstr/>
  </property>
  <property fmtid="{D5CDD505-2E9C-101B-9397-08002B2CF9AE}" pid="12" name="Reference">
    <vt:lpwstr/>
  </property>
  <property fmtid="{D5CDD505-2E9C-101B-9397-08002B2CF9AE}" pid="13" name="Keyword">
    <vt:lpwstr/>
  </property>
  <property fmtid="{D5CDD505-2E9C-101B-9397-08002B2CF9AE}" pid="14" name="LeftFooterField">
    <vt:lpwstr>DocNo</vt:lpwstr>
  </property>
  <property fmtid="{D5CDD505-2E9C-101B-9397-08002B2CF9AE}" pid="15" name="RightFooterField">
    <vt:lpwstr>Title</vt:lpwstr>
  </property>
  <property fmtid="{D5CDD505-2E9C-101B-9397-08002B2CF9AE}" pid="16" name="MiddleFooterField">
    <vt:lpwstr>Date</vt:lpwstr>
  </property>
  <property fmtid="{D5CDD505-2E9C-101B-9397-08002B2CF9AE}" pid="17" name="SecClassViewType">
    <vt:lpwstr>False</vt:lpwstr>
  </property>
  <property fmtid="{D5CDD505-2E9C-101B-9397-08002B2CF9AE}" pid="18" name="FooterType">
    <vt:lpwstr>CVL</vt:lpwstr>
  </property>
  <property fmtid="{D5CDD505-2E9C-101B-9397-08002B2CF9AE}" pid="19" name="DocumentType">
    <vt:lpwstr/>
  </property>
  <property fmtid="{D5CDD505-2E9C-101B-9397-08002B2CF9AE}" pid="20" name="TemplateName">
    <vt:lpwstr/>
  </property>
  <property fmtid="{D5CDD505-2E9C-101B-9397-08002B2CF9AE}" pid="21" name="TemplateVersion">
    <vt:lpwstr/>
  </property>
  <property fmtid="{D5CDD505-2E9C-101B-9397-08002B2CF9AE}" pid="22" name="TotalNumb">
    <vt:lpwstr>False</vt:lpwstr>
  </property>
</Properties>
</file>